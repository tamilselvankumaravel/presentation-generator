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e_Future_of_AI_background.jp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0" y="0"/>
            <a:ext cx="9144000" cy="6858000"/>
          </a:xfrm>
          <a:prstGeom prst="rect">
            <a:avLst/>
          </a:prstGeom>
          <a:solidFill>
            <a:srgbClr val="000000">
              <a:lumMod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2286000"/>
            <a:ext cx="5486400" cy="2286000"/>
          </a:xfrm>
          <a:prstGeom prst="roundRect">
            <a:avLst>
              <a:gd name="adj" fmla="val 1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0" y="2560320"/>
            <a:ext cx="5120640" cy="1371600"/>
          </a:xfrm>
          <a:prstGeom prst="rect">
            <a:avLst/>
          </a:prstGeom>
          <a:noFill/>
        </p:spPr>
        <p:txBody>
          <a:bodyPr wrap="square" anchor="ctr">
            <a:spAutoFit/>
          </a:bodyPr>
          <a:lstStyle/>
          <a:p>
            <a:pPr algn="ctr">
              <a:lnSpc>
                <a:spcPct val="110000"/>
              </a:lnSpc>
              <a:defRPr sz="6400" b="1">
                <a:solidFill>
                  <a:srgbClr val="1E293B"/>
                </a:solidFill>
                <a:latin typeface="Segoe UI"/>
              </a:defRPr>
            </a:pPr>
            <a:r>
              <a:t>The Future of AI</a:t>
            </a:r>
          </a:p>
        </p:txBody>
      </p:sp>
      <p:sp>
        <p:nvSpPr>
          <p:cNvPr id="6" name="TextBox 5"/>
          <p:cNvSpPr txBox="1"/>
          <p:nvPr/>
        </p:nvSpPr>
        <p:spPr>
          <a:xfrm>
            <a:off x="2011680" y="3931920"/>
            <a:ext cx="5120640" cy="548640"/>
          </a:xfrm>
          <a:prstGeom prst="rect">
            <a:avLst/>
          </a:prstGeom>
          <a:noFill/>
        </p:spPr>
        <p:txBody>
          <a:bodyPr wrap="square">
            <a:spAutoFit/>
          </a:bodyPr>
          <a:lstStyle/>
          <a:p>
            <a:pPr algn="ctr">
              <a:defRPr sz="1800">
                <a:solidFill>
                  <a:srgbClr val="475569"/>
                </a:solidFill>
                <a:latin typeface="Segoe UI"/>
              </a:defRPr>
            </a:pPr>
            <a:r>
              <a:t>This presentation explores the future of Artificial Intelligence, its potential impacts, and the ethical considerations we must address. We will delve into emerging trends, AI's role in various sectors, and the skills needed to thrive in an AI-driven world.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bstract_technology_background.jp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0" y="0"/>
            <a:ext cx="9144000" cy="6858000"/>
          </a:xfrm>
          <a:prstGeom prst="rect">
            <a:avLst/>
          </a:prstGeom>
          <a:solidFill>
            <a:srgbClr val="000000">
              <a:lumMod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28800" y="1371600"/>
            <a:ext cx="5486400" cy="4114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1828800"/>
            <a:ext cx="4937760" cy="731520"/>
          </a:xfrm>
          <a:prstGeom prst="rect">
            <a:avLst/>
          </a:prstGeom>
          <a:noFill/>
        </p:spPr>
        <p:txBody>
          <a:bodyPr wrap="square" anchor="ctr">
            <a:spAutoFit/>
          </a:bodyPr>
          <a:lstStyle/>
          <a:p>
            <a:pPr algn="ctr">
              <a:lnSpc>
                <a:spcPct val="110000"/>
              </a:lnSpc>
              <a:defRPr sz="4000" b="1">
                <a:solidFill>
                  <a:srgbClr val="1E293B"/>
                </a:solidFill>
                <a:latin typeface="Segoe UI"/>
              </a:defRPr>
            </a:pPr>
            <a:r>
              <a:t>The Future of AI</a:t>
            </a:r>
          </a:p>
        </p:txBody>
      </p:sp>
      <p:sp>
        <p:nvSpPr>
          <p:cNvPr id="6" name="TextBox 5"/>
          <p:cNvSpPr txBox="1"/>
          <p:nvPr/>
        </p:nvSpPr>
        <p:spPr>
          <a:xfrm>
            <a:off x="2286000" y="2926080"/>
            <a:ext cx="4572000" cy="2286000"/>
          </a:xfrm>
          <a:prstGeom prst="rect">
            <a:avLst/>
          </a:prstGeom>
          <a:noFill/>
        </p:spPr>
        <p:txBody>
          <a:bodyPr wrap="square">
            <a:spAutoFit/>
          </a:bodyPr>
          <a:lstStyle/>
          <a:p>
            <a:pPr algn="l">
              <a:lnSpc>
                <a:spcPct val="130000"/>
              </a:lnSpc>
              <a:spcAft>
                <a:spcPts val="1400"/>
              </a:spcAft>
              <a:defRPr sz="1800">
                <a:solidFill>
                  <a:srgbClr val="475569"/>
                </a:solidFill>
                <a:latin typeface="Segoe UI"/>
              </a:defRPr>
            </a:pPr>
            <a:r>
              <a:t>• An exploration of AI's potential and implications</a:t>
            </a:r>
          </a:p>
          <a:p>
            <a:pPr algn="l">
              <a:lnSpc>
                <a:spcPct val="130000"/>
              </a:lnSpc>
              <a:spcAft>
                <a:spcPts val="1400"/>
              </a:spcAft>
              <a:defRPr sz="1800">
                <a:solidFill>
                  <a:srgbClr val="475569"/>
                </a:solidFill>
                <a:latin typeface="Segoe UI"/>
              </a:defRPr>
            </a:pPr>
            <a:r>
              <a:t>• Understanding emerging trends and technologies</a:t>
            </a:r>
          </a:p>
          <a:p>
            <a:pPr algn="l">
              <a:lnSpc>
                <a:spcPct val="130000"/>
              </a:lnSpc>
              <a:spcAft>
                <a:spcPts val="1400"/>
              </a:spcAft>
              <a:defRPr sz="1800">
                <a:solidFill>
                  <a:srgbClr val="475569"/>
                </a:solidFill>
                <a:latin typeface="Segoe UI"/>
              </a:defRPr>
            </a:pPr>
            <a:r>
              <a:t>• Navigating the ethical landscape of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rn_business_background.jp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0" y="0"/>
            <a:ext cx="9144000" cy="6858000"/>
          </a:xfrm>
          <a:prstGeom prst="rect">
            <a:avLst/>
          </a:prstGeom>
          <a:solidFill>
            <a:srgbClr val="000000">
              <a:lumMod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3931920" cy="4663440"/>
          </a:xfrm>
          <a:prstGeom prst="roundRect">
            <a:avLst>
              <a:gd name="adj" fmla="val 10000"/>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merging_AI_trends.jpg"/>
          <p:cNvPicPr>
            <a:picLocks noChangeAspect="1"/>
          </p:cNvPicPr>
          <p:nvPr/>
        </p:nvPicPr>
        <p:blipFill>
          <a:blip r:embed="rId3"/>
          <a:stretch>
            <a:fillRect/>
          </a:stretch>
        </p:blipFill>
        <p:spPr>
          <a:xfrm>
            <a:off x="457200" y="1188720"/>
            <a:ext cx="3657600" cy="4572000"/>
          </a:xfrm>
          <a:prstGeom prst="rect">
            <a:avLst/>
          </a:prstGeom>
        </p:spPr>
      </p:pic>
      <p:sp>
        <p:nvSpPr>
          <p:cNvPr id="6" name="Rounded Rectangle 5"/>
          <p:cNvSpPr/>
          <p:nvPr/>
        </p:nvSpPr>
        <p:spPr>
          <a:xfrm>
            <a:off x="4754880" y="1371600"/>
            <a:ext cx="3931920" cy="4114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0" y="1828800"/>
            <a:ext cx="3200400" cy="731520"/>
          </a:xfrm>
          <a:prstGeom prst="rect">
            <a:avLst/>
          </a:prstGeom>
          <a:noFill/>
        </p:spPr>
        <p:txBody>
          <a:bodyPr wrap="square">
            <a:spAutoFit/>
          </a:bodyPr>
          <a:lstStyle/>
          <a:p>
            <a:pPr algn="l">
              <a:lnSpc>
                <a:spcPct val="110000"/>
              </a:lnSpc>
              <a:defRPr sz="3200" b="1">
                <a:solidFill>
                  <a:srgbClr val="1E293B"/>
                </a:solidFill>
                <a:latin typeface="Segoe UI"/>
              </a:defRPr>
            </a:pPr>
            <a:r>
              <a:t>Emerging Trends in AI</a:t>
            </a:r>
          </a:p>
        </p:txBody>
      </p:sp>
      <p:sp>
        <p:nvSpPr>
          <p:cNvPr id="8" name="TextBox 7"/>
          <p:cNvSpPr txBox="1"/>
          <p:nvPr/>
        </p:nvSpPr>
        <p:spPr>
          <a:xfrm>
            <a:off x="5120640" y="2743200"/>
            <a:ext cx="3200400" cy="2286000"/>
          </a:xfrm>
          <a:prstGeom prst="rect">
            <a:avLst/>
          </a:prstGeom>
          <a:noFill/>
        </p:spPr>
        <p:txBody>
          <a:bodyPr wrap="square">
            <a:spAutoFit/>
          </a:bodyPr>
          <a:lstStyle/>
          <a:p>
            <a:pPr algn="l">
              <a:lnSpc>
                <a:spcPct val="120000"/>
              </a:lnSpc>
              <a:spcAft>
                <a:spcPts val="1200"/>
              </a:spcAft>
              <a:defRPr sz="1500">
                <a:solidFill>
                  <a:srgbClr val="475569"/>
                </a:solidFill>
                <a:latin typeface="Segoe UI"/>
              </a:defRPr>
            </a:pPr>
            <a:r>
              <a:t>• Advancements in machine learning and deep learning</a:t>
            </a:r>
          </a:p>
          <a:p>
            <a:pPr algn="l">
              <a:lnSpc>
                <a:spcPct val="120000"/>
              </a:lnSpc>
              <a:spcAft>
                <a:spcPts val="1200"/>
              </a:spcAft>
              <a:defRPr sz="1500">
                <a:solidFill>
                  <a:srgbClr val="475569"/>
                </a:solidFill>
                <a:latin typeface="Segoe UI"/>
              </a:defRPr>
            </a:pPr>
            <a:r>
              <a:t>• The rise of explainable AI (XAI)</a:t>
            </a:r>
          </a:p>
          <a:p>
            <a:pPr algn="l">
              <a:lnSpc>
                <a:spcPct val="120000"/>
              </a:lnSpc>
              <a:spcAft>
                <a:spcPts val="1200"/>
              </a:spcAft>
              <a:defRPr sz="1500">
                <a:solidFill>
                  <a:srgbClr val="475569"/>
                </a:solidFill>
                <a:latin typeface="Segoe UI"/>
              </a:defRPr>
            </a:pPr>
            <a:r>
              <a:t>• Edge AI and its applications in IoT</a:t>
            </a:r>
          </a:p>
          <a:p>
            <a:pPr algn="l">
              <a:lnSpc>
                <a:spcPct val="120000"/>
              </a:lnSpc>
              <a:spcAft>
                <a:spcPts val="1200"/>
              </a:spcAft>
              <a:defRPr sz="1500">
                <a:solidFill>
                  <a:srgbClr val="475569"/>
                </a:solidFill>
                <a:latin typeface="Segoe UI"/>
              </a:defRPr>
            </a:pPr>
            <a:r>
              <a:t>• AI in quantum computing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in_industries.jp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0" y="0"/>
            <a:ext cx="9144000" cy="6858000"/>
          </a:xfrm>
          <a:prstGeom prst="rect">
            <a:avLst/>
          </a:prstGeom>
          <a:solidFill>
            <a:srgbClr val="000000">
              <a:lumMod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114800"/>
            <a:ext cx="7315200" cy="2286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389120"/>
            <a:ext cx="6400800" cy="548640"/>
          </a:xfrm>
          <a:prstGeom prst="rect">
            <a:avLst/>
          </a:prstGeom>
          <a:noFill/>
        </p:spPr>
        <p:txBody>
          <a:bodyPr wrap="none">
            <a:spAutoFit/>
          </a:bodyPr>
          <a:lstStyle/>
          <a:p>
            <a:pPr algn="l">
              <a:defRPr sz="3600" b="1">
                <a:solidFill>
                  <a:srgbClr val="1E293B"/>
                </a:solidFill>
                <a:latin typeface="Segoe UI"/>
              </a:defRPr>
            </a:pPr>
            <a:r>
              <a:t>AI's Impact on Industries</a:t>
            </a:r>
          </a:p>
        </p:txBody>
      </p:sp>
      <p:sp>
        <p:nvSpPr>
          <p:cNvPr id="6" name="TextBox 5"/>
          <p:cNvSpPr txBox="1"/>
          <p:nvPr/>
        </p:nvSpPr>
        <p:spPr>
          <a:xfrm>
            <a:off x="1371600" y="5029200"/>
            <a:ext cx="6400800" cy="1188720"/>
          </a:xfrm>
          <a:prstGeom prst="rect">
            <a:avLst/>
          </a:prstGeom>
          <a:noFill/>
        </p:spPr>
        <p:txBody>
          <a:bodyPr wrap="square">
            <a:spAutoFit/>
          </a:bodyPr>
          <a:lstStyle/>
          <a:p>
            <a:pPr algn="l">
              <a:spcAft>
                <a:spcPts val="800"/>
              </a:spcAft>
              <a:defRPr sz="1600">
                <a:solidFill>
                  <a:srgbClr val="475569"/>
                </a:solidFill>
                <a:latin typeface="Segoe UI"/>
              </a:defRPr>
            </a:pPr>
            <a:r>
              <a:t>• Healthcare: AI-driven diagnostics and personalized medicine</a:t>
            </a:r>
          </a:p>
          <a:p>
            <a:pPr algn="l">
              <a:spcAft>
                <a:spcPts val="800"/>
              </a:spcAft>
              <a:defRPr sz="1600">
                <a:solidFill>
                  <a:srgbClr val="475569"/>
                </a:solidFill>
                <a:latin typeface="Segoe UI"/>
              </a:defRPr>
            </a:pPr>
            <a:r>
              <a:t>• Finance: AI for fraud detection and algorithmic trading</a:t>
            </a:r>
          </a:p>
          <a:p>
            <a:pPr algn="l">
              <a:spcAft>
                <a:spcPts val="800"/>
              </a:spcAft>
              <a:defRPr sz="1600">
                <a:solidFill>
                  <a:srgbClr val="475569"/>
                </a:solidFill>
                <a:latin typeface="Segoe UI"/>
              </a:defRPr>
            </a:pPr>
            <a:r>
              <a:t>• Transportation: Autonomous vehicles and smart cities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reative_workspace_background.jp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0" y="0"/>
            <a:ext cx="9144000" cy="6858000"/>
          </a:xfrm>
          <a:prstGeom prst="rect">
            <a:avLst/>
          </a:prstGeom>
          <a:solidFill>
            <a:srgbClr val="000000">
              <a:lumMod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3931920" cy="4663440"/>
          </a:xfrm>
          <a:prstGeom prst="roundRect">
            <a:avLst>
              <a:gd name="adj" fmla="val 10000"/>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I_ethics.jpg"/>
          <p:cNvPicPr>
            <a:picLocks noChangeAspect="1"/>
          </p:cNvPicPr>
          <p:nvPr/>
        </p:nvPicPr>
        <p:blipFill>
          <a:blip r:embed="rId3"/>
          <a:stretch>
            <a:fillRect/>
          </a:stretch>
        </p:blipFill>
        <p:spPr>
          <a:xfrm>
            <a:off x="457200" y="1188720"/>
            <a:ext cx="3657600" cy="4572000"/>
          </a:xfrm>
          <a:prstGeom prst="rect">
            <a:avLst/>
          </a:prstGeom>
        </p:spPr>
      </p:pic>
      <p:sp>
        <p:nvSpPr>
          <p:cNvPr id="6" name="Rounded Rectangle 5"/>
          <p:cNvSpPr/>
          <p:nvPr/>
        </p:nvSpPr>
        <p:spPr>
          <a:xfrm>
            <a:off x="4754880" y="1371600"/>
            <a:ext cx="3931920" cy="4114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0" y="1828800"/>
            <a:ext cx="3200400" cy="731520"/>
          </a:xfrm>
          <a:prstGeom prst="rect">
            <a:avLst/>
          </a:prstGeom>
          <a:noFill/>
        </p:spPr>
        <p:txBody>
          <a:bodyPr wrap="square">
            <a:spAutoFit/>
          </a:bodyPr>
          <a:lstStyle/>
          <a:p>
            <a:pPr algn="l">
              <a:lnSpc>
                <a:spcPct val="110000"/>
              </a:lnSpc>
              <a:defRPr sz="3200" b="1">
                <a:solidFill>
                  <a:srgbClr val="1E293B"/>
                </a:solidFill>
                <a:latin typeface="Segoe UI"/>
              </a:defRPr>
            </a:pPr>
            <a:r>
              <a:t>Ethical Considerations and Challenges</a:t>
            </a:r>
          </a:p>
        </p:txBody>
      </p:sp>
      <p:sp>
        <p:nvSpPr>
          <p:cNvPr id="8" name="TextBox 7"/>
          <p:cNvSpPr txBox="1"/>
          <p:nvPr/>
        </p:nvSpPr>
        <p:spPr>
          <a:xfrm>
            <a:off x="5120640" y="2743200"/>
            <a:ext cx="3200400" cy="2286000"/>
          </a:xfrm>
          <a:prstGeom prst="rect">
            <a:avLst/>
          </a:prstGeom>
          <a:noFill/>
        </p:spPr>
        <p:txBody>
          <a:bodyPr wrap="square">
            <a:spAutoFit/>
          </a:bodyPr>
          <a:lstStyle/>
          <a:p>
            <a:pPr algn="l">
              <a:lnSpc>
                <a:spcPct val="120000"/>
              </a:lnSpc>
              <a:spcAft>
                <a:spcPts val="1200"/>
              </a:spcAft>
              <a:defRPr sz="1500">
                <a:solidFill>
                  <a:srgbClr val="475569"/>
                </a:solidFill>
                <a:latin typeface="Segoe UI"/>
              </a:defRPr>
            </a:pPr>
            <a:r>
              <a:t>• Bias and fairness in AI algorithms</a:t>
            </a:r>
          </a:p>
          <a:p>
            <a:pPr algn="l">
              <a:lnSpc>
                <a:spcPct val="120000"/>
              </a:lnSpc>
              <a:spcAft>
                <a:spcPts val="1200"/>
              </a:spcAft>
              <a:defRPr sz="1500">
                <a:solidFill>
                  <a:srgbClr val="475569"/>
                </a:solidFill>
                <a:latin typeface="Segoe UI"/>
              </a:defRPr>
            </a:pPr>
            <a:r>
              <a:t>• Privacy concerns and data security</a:t>
            </a:r>
          </a:p>
          <a:p>
            <a:pPr algn="l">
              <a:lnSpc>
                <a:spcPct val="120000"/>
              </a:lnSpc>
              <a:spcAft>
                <a:spcPts val="1200"/>
              </a:spcAft>
              <a:defRPr sz="1500">
                <a:solidFill>
                  <a:srgbClr val="475569"/>
                </a:solidFill>
                <a:latin typeface="Segoe UI"/>
              </a:defRPr>
            </a:pPr>
            <a:r>
              <a:t>• Job displacement and the future of work</a:t>
            </a:r>
          </a:p>
          <a:p>
            <a:pPr algn="l">
              <a:lnSpc>
                <a:spcPct val="120000"/>
              </a:lnSpc>
              <a:spcAft>
                <a:spcPts val="1200"/>
              </a:spcAft>
              <a:defRPr sz="1500">
                <a:solidFill>
                  <a:srgbClr val="475569"/>
                </a:solidFill>
                <a:latin typeface="Segoe UI"/>
              </a:defRPr>
            </a:pPr>
            <a:r>
              <a:t>• Accountability and transparency in AI decision-making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ponsible_AI.jp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0" y="0"/>
            <a:ext cx="9144000" cy="6858000"/>
          </a:xfrm>
          <a:prstGeom prst="rect">
            <a:avLst/>
          </a:prstGeom>
          <a:solidFill>
            <a:srgbClr val="000000">
              <a:lumMod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4114800"/>
            <a:ext cx="7315200" cy="2286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389120"/>
            <a:ext cx="6400800" cy="548640"/>
          </a:xfrm>
          <a:prstGeom prst="rect">
            <a:avLst/>
          </a:prstGeom>
          <a:noFill/>
        </p:spPr>
        <p:txBody>
          <a:bodyPr wrap="none">
            <a:spAutoFit/>
          </a:bodyPr>
          <a:lstStyle/>
          <a:p>
            <a:pPr algn="l">
              <a:defRPr sz="3600" b="1">
                <a:solidFill>
                  <a:srgbClr val="1E293B"/>
                </a:solidFill>
                <a:latin typeface="Segoe UI"/>
              </a:defRPr>
            </a:pPr>
            <a:r>
              <a:t>Conclusion</a:t>
            </a:r>
          </a:p>
        </p:txBody>
      </p:sp>
      <p:sp>
        <p:nvSpPr>
          <p:cNvPr id="6" name="TextBox 5"/>
          <p:cNvSpPr txBox="1"/>
          <p:nvPr/>
        </p:nvSpPr>
        <p:spPr>
          <a:xfrm>
            <a:off x="1371600" y="5029200"/>
            <a:ext cx="6400800" cy="1188720"/>
          </a:xfrm>
          <a:prstGeom prst="rect">
            <a:avLst/>
          </a:prstGeom>
          <a:noFill/>
        </p:spPr>
        <p:txBody>
          <a:bodyPr wrap="square">
            <a:spAutoFit/>
          </a:bodyPr>
          <a:lstStyle/>
          <a:p>
            <a:pPr algn="l">
              <a:spcAft>
                <a:spcPts val="800"/>
              </a:spcAft>
              <a:defRPr sz="1600">
                <a:solidFill>
                  <a:srgbClr val="475569"/>
                </a:solidFill>
                <a:latin typeface="Segoe UI"/>
              </a:defRPr>
            </a:pPr>
            <a:r>
              <a:t>• AI's potential is vast, but so are the challenges</a:t>
            </a:r>
          </a:p>
          <a:p>
            <a:pPr algn="l">
              <a:spcAft>
                <a:spcPts val="800"/>
              </a:spcAft>
              <a:defRPr sz="1600">
                <a:solidFill>
                  <a:srgbClr val="475569"/>
                </a:solidFill>
                <a:latin typeface="Segoe UI"/>
              </a:defRPr>
            </a:pPr>
            <a:r>
              <a:t>• Collaboration between technologists, policymakers, and ethicists is crucial</a:t>
            </a:r>
          </a:p>
          <a:p>
            <a:pPr algn="l">
              <a:spcAft>
                <a:spcPts val="800"/>
              </a:spcAft>
              <a:defRPr sz="1600">
                <a:solidFill>
                  <a:srgbClr val="475569"/>
                </a:solidFill>
                <a:latin typeface="Segoe UI"/>
              </a:defRPr>
            </a:pPr>
            <a:r>
              <a:t>• Lifelong learning and adaptability are key to thriving in an AI-driven world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