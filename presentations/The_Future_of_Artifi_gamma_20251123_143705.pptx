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he_Future_of_Artificial_Inte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457200"/>
            <a:ext cx="4114800" cy="59436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4572000" y="457200"/>
            <a:ext cx="4114800" cy="594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411480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defRPr sz="4200" b="1">
                <a:solidFill>
                  <a:srgbClr val="0A5C8C"/>
                </a:solidFill>
                <a:latin typeface="Segoe UI"/>
              </a:defRPr>
            </a:pPr>
            <a:r>
              <a:t>The Future of Artificial Intelligence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840480"/>
            <a:ext cx="41148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0000"/>
              </a:lnSpc>
              <a:defRPr sz="1600">
                <a:solidFill>
                  <a:srgbClr val="0A5C8C"/>
                </a:solidFill>
                <a:latin typeface="Segoe UI"/>
              </a:defRPr>
            </a:pPr>
            <a:r>
              <a:t>This presentation explores the current trends, future predictions, benefits, challenges, and ethical considerations of Artificial Intelligence. It provides a comprehensive overview of what the future holds for AI and its impact on various sectors.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669280"/>
            <a:ext cx="4114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>
                <a:solidFill>
                  <a:srgbClr val="6B7280"/>
                </a:solidFill>
                <a:latin typeface="Segoe UI"/>
              </a:defRPr>
            </a:pPr>
            <a:r>
              <a:t>by AI Research Team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76809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 b="1">
                <a:solidFill>
                  <a:srgbClr val="0A5C8C"/>
                </a:solidFill>
                <a:latin typeface="Segoe UI"/>
              </a:defRPr>
            </a:pPr>
            <a:r>
              <a:t>The Future of Artificial Intelligence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0" y="2286000"/>
            <a:ext cx="6400800" cy="914400"/>
          </a:xfrm>
          <a:prstGeom prst="roundRect">
            <a:avLst>
              <a:gd name="adj" fmla="val 10000"/>
            </a:avLst>
          </a:prstGeom>
          <a:solidFill>
            <a:srgbClr val="D4E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0" y="2468880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0A5C8C"/>
                </a:solidFill>
                <a:latin typeface="Segoe UI"/>
              </a:defRPr>
            </a:pPr>
            <a:r>
              <a:t>• Content for The Future of Artificial Intelligence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0A5C8C"/>
                </a:solidFill>
                <a:latin typeface="Segoe UI"/>
              </a:defRPr>
            </a:pPr>
            <a:r>
              <a:t>Current Trends in AI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3840480" cy="1188720"/>
          </a:xfrm>
          <a:prstGeom prst="roundRect">
            <a:avLst>
              <a:gd name="adj" fmla="val 10000"/>
            </a:avLst>
          </a:prstGeom>
          <a:solidFill>
            <a:srgbClr val="D4E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05740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0A5C8C"/>
                </a:solidFill>
                <a:latin typeface="Segoe UI"/>
              </a:defRPr>
            </a:pPr>
            <a:r>
              <a:t>Rapid advancements in machine learning and deep learning algorithms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200400"/>
            <a:ext cx="3840480" cy="1188720"/>
          </a:xfrm>
          <a:prstGeom prst="roundRect">
            <a:avLst>
              <a:gd name="adj" fmla="val 10000"/>
            </a:avLst>
          </a:prstGeom>
          <a:solidFill>
            <a:srgbClr val="D4E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342900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0A5C8C"/>
                </a:solidFill>
                <a:latin typeface="Segoe UI"/>
              </a:defRPr>
            </a:pPr>
            <a:r>
              <a:t>Increased adoption of AI in healthcare, finance, and autonomous vehicles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572000"/>
            <a:ext cx="3840480" cy="1188720"/>
          </a:xfrm>
          <a:prstGeom prst="roundRect">
            <a:avLst>
              <a:gd name="adj" fmla="val 10000"/>
            </a:avLst>
          </a:prstGeom>
          <a:solidFill>
            <a:srgbClr val="D4E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480060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0A5C8C"/>
                </a:solidFill>
                <a:latin typeface="Segoe UI"/>
              </a:defRPr>
            </a:pPr>
            <a:r>
              <a:t>Growth of AI as a Service (AIaaS) and edge computing</a:t>
            </a:r>
          </a:p>
        </p:txBody>
      </p:sp>
      <p:pic>
        <p:nvPicPr>
          <p:cNvPr id="10" name="Picture 9" descr="future_of_ai_current_trends_t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828800"/>
            <a:ext cx="347472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0A5C8C"/>
                </a:solidFill>
                <a:latin typeface="Segoe UI"/>
              </a:defRPr>
            </a:pPr>
            <a:r>
              <a:t>Future Predictions for AI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3657600" cy="2011680"/>
          </a:xfrm>
          <a:prstGeom prst="roundRect">
            <a:avLst>
              <a:gd name="adj" fmla="val 10000"/>
            </a:avLst>
          </a:prstGeom>
          <a:solidFill>
            <a:srgbClr val="D4E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0" y="2560320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3B82F6"/>
                </a:solidFill>
                <a:latin typeface="Segoe UI"/>
              </a:defRPr>
            </a:pPr>
            <a:r>
              <a:t>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03120"/>
            <a:ext cx="31089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300">
                <a:solidFill>
                  <a:srgbClr val="0A5C8C"/>
                </a:solidFill>
                <a:latin typeface="Segoe UI"/>
              </a:defRPr>
            </a:pPr>
            <a:r>
              <a:t>AI will become more autonomous and capable of self-improvement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663440" y="1828800"/>
            <a:ext cx="3657600" cy="2011680"/>
          </a:xfrm>
          <a:prstGeom prst="roundRect">
            <a:avLst>
              <a:gd name="adj" fmla="val 10000"/>
            </a:avLst>
          </a:prstGeom>
          <a:solidFill>
            <a:srgbClr val="D4E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0" y="2560320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3B82F6"/>
                </a:solidFill>
                <a:latin typeface="Segoe UI"/>
              </a:defRPr>
            </a:pPr>
            <a:r>
              <a:t>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37759" y="2103120"/>
            <a:ext cx="31089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300">
                <a:solidFill>
                  <a:srgbClr val="0A5C8C"/>
                </a:solidFill>
                <a:latin typeface="Segoe UI"/>
              </a:defRPr>
            </a:pPr>
            <a:r>
              <a:t>Integration of AI with other emerging technologies like IoT and blockchain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114800"/>
            <a:ext cx="3657600" cy="2011680"/>
          </a:xfrm>
          <a:prstGeom prst="roundRect">
            <a:avLst>
              <a:gd name="adj" fmla="val 10000"/>
            </a:avLst>
          </a:prstGeom>
          <a:solidFill>
            <a:srgbClr val="D4E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286000" y="4846320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3B82F6"/>
                </a:solidFill>
                <a:latin typeface="Segoe UI"/>
              </a:defRPr>
            </a:pPr>
            <a:r>
              <a:t>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389120"/>
            <a:ext cx="31089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300">
                <a:solidFill>
                  <a:srgbClr val="0A5C8C"/>
                </a:solidFill>
                <a:latin typeface="Segoe UI"/>
              </a:defRPr>
            </a:pPr>
            <a:r>
              <a:t>Expansion of AI in creative fields such as art, music, and content creation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63440" y="4114800"/>
            <a:ext cx="3657600" cy="2011680"/>
          </a:xfrm>
          <a:prstGeom prst="roundRect">
            <a:avLst>
              <a:gd name="adj" fmla="val 10000"/>
            </a:avLst>
          </a:prstGeom>
          <a:solidFill>
            <a:srgbClr val="D4E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0" y="4846320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3B82F6"/>
                </a:solidFill>
                <a:latin typeface="Segoe UI"/>
              </a:defRPr>
            </a:pPr>
            <a:r>
              <a:t>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37759" y="4389120"/>
            <a:ext cx="31089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300">
                <a:solidFill>
                  <a:srgbClr val="0A5C8C"/>
                </a:solidFill>
                <a:latin typeface="Segoe UI"/>
              </a:defRPr>
            </a:pPr>
            <a:r>
              <a:t>Development of AI systems that can understand and generate human emotions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000" b="1">
                <a:solidFill>
                  <a:srgbClr val="0A5C8C"/>
                </a:solidFill>
                <a:latin typeface="Segoe UI"/>
              </a:defRPr>
            </a:pPr>
            <a:r>
              <a:t>Benefits and Challenges of AI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4114800" cy="1645920"/>
          </a:xfrm>
          <a:prstGeom prst="roundRect">
            <a:avLst>
              <a:gd name="adj" fmla="val 10000"/>
            </a:avLst>
          </a:prstGeom>
          <a:solidFill>
            <a:srgbClr val="D4E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920240"/>
            <a:ext cx="3474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600">
                <a:solidFill>
                  <a:srgbClr val="0A5C8C"/>
                </a:solidFill>
                <a:latin typeface="Segoe UI"/>
              </a:defRPr>
            </a:pPr>
            <a:r>
              <a:t>Benefits: Increased efficiency, improved decision-making, and enhanced personalization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657600"/>
            <a:ext cx="4114800" cy="1645920"/>
          </a:xfrm>
          <a:prstGeom prst="roundRect">
            <a:avLst>
              <a:gd name="adj" fmla="val 10000"/>
            </a:avLst>
          </a:prstGeom>
          <a:solidFill>
            <a:srgbClr val="D4E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3931920"/>
            <a:ext cx="3474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600">
                <a:solidFill>
                  <a:srgbClr val="0A5C8C"/>
                </a:solidFill>
                <a:latin typeface="Segoe UI"/>
              </a:defRPr>
            </a:pPr>
            <a:r>
              <a:t>Challenges: Job displacement, data privacy concerns, and ethical dilemmas</a:t>
            </a:r>
          </a:p>
        </p:txBody>
      </p:sp>
      <p:pic>
        <p:nvPicPr>
          <p:cNvPr id="8" name="Picture 7" descr="future_of_ai_benefits_advanta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1371600"/>
            <a:ext cx="3200400" cy="2011680"/>
          </a:xfrm>
          <a:prstGeom prst="rect">
            <a:avLst/>
          </a:prstGeom>
        </p:spPr>
      </p:pic>
      <p:pic>
        <p:nvPicPr>
          <p:cNvPr id="9" name="Picture 8" descr="future_of_ai_benefits_advanta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3657600"/>
            <a:ext cx="320040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0A5C8C"/>
                </a:solidFill>
                <a:latin typeface="Segoe UI"/>
              </a:defRPr>
            </a:pPr>
            <a:r>
              <a:t>Conclusion: Embracing the Future of AI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3840480" cy="1188720"/>
          </a:xfrm>
          <a:prstGeom prst="roundRect">
            <a:avLst>
              <a:gd name="adj" fmla="val 10000"/>
            </a:avLst>
          </a:prstGeom>
          <a:solidFill>
            <a:srgbClr val="D4E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05740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0A5C8C"/>
                </a:solidFill>
                <a:latin typeface="Segoe UI"/>
              </a:defRPr>
            </a:pPr>
            <a:r>
              <a:t>AI is poised to transform industries and societies in profound ways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200400"/>
            <a:ext cx="3840480" cy="1188720"/>
          </a:xfrm>
          <a:prstGeom prst="roundRect">
            <a:avLst>
              <a:gd name="adj" fmla="val 10000"/>
            </a:avLst>
          </a:prstGeom>
          <a:solidFill>
            <a:srgbClr val="D4E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342900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0A5C8C"/>
                </a:solidFill>
                <a:latin typeface="Segoe UI"/>
              </a:defRPr>
            </a:pPr>
            <a:r>
              <a:t>Collaboration between policymakers, researchers, and businesses is crucial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572000"/>
            <a:ext cx="3840480" cy="1188720"/>
          </a:xfrm>
          <a:prstGeom prst="roundRect">
            <a:avLst>
              <a:gd name="adj" fmla="val 10000"/>
            </a:avLst>
          </a:prstGeom>
          <a:solidFill>
            <a:srgbClr val="D4E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480060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0A5C8C"/>
                </a:solidFill>
                <a:latin typeface="Segoe UI"/>
              </a:defRPr>
            </a:pPr>
            <a:r>
              <a:t>Ethical considerations and responsible AI development must be prioritized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