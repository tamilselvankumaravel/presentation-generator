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10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11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13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14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15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182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193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1B3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1C3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1874520"/>
            <a:ext cx="6400800" cy="32004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600" b="1">
                <a:solidFill>
                  <a:srgbClr val="F8FAFC"/>
                </a:solidFill>
                <a:latin typeface="Segoe UI"/>
              </a:defRPr>
            </a:pPr>
            <a:r>
              <a:t>The Future of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BD5E1"/>
                </a:solidFill>
                <a:latin typeface="Segoe UI"/>
              </a:defRPr>
            </a:pPr>
            <a:r>
              <a:t>This presentation explores the current trends, potential advancements, and ethical considerations in the field of artificial intelligence. It provides a comprehensive overview of what the future might hold for AI technology.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10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11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13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14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15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182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193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1B3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1C3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96012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91440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  <a:latin typeface="Segoe UI"/>
              </a:defRPr>
            </a:pPr>
            <a:r>
              <a:t>The Future of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CBD5E1"/>
                </a:solidFill>
                <a:latin typeface="Segoe UI"/>
              </a:defRPr>
            </a:pPr>
            <a:r>
              <a:t>• A journey into the next decade of artificial intelligence</a:t>
            </a:r>
          </a:p>
          <a:p>
            <a:pPr>
              <a:spcAft>
                <a:spcPts val="1800"/>
              </a:spcAft>
              <a:defRPr sz="2000">
                <a:solidFill>
                  <a:srgbClr val="CBD5E1"/>
                </a:solidFill>
                <a:latin typeface="Segoe UI"/>
              </a:defRPr>
            </a:pPr>
            <a:r>
              <a:t>• Exploring trends, advancements, and ethical considerations</a:t>
            </a:r>
          </a:p>
          <a:p>
            <a:pPr>
              <a:spcAft>
                <a:spcPts val="1800"/>
              </a:spcAft>
              <a:defRPr sz="2000">
                <a:solidFill>
                  <a:srgbClr val="CBD5E1"/>
                </a:solidFill>
                <a:latin typeface="Segoe UI"/>
              </a:defRPr>
            </a:pPr>
            <a:r>
              <a:t>• Presented by [Your Name]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00000">
            <a:off x="-1828800" y="0"/>
            <a:ext cx="27432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-1188720" y="0"/>
            <a:ext cx="2743200" cy="6858000"/>
          </a:xfrm>
          <a:prstGeom prst="rect">
            <a:avLst/>
          </a:prstGeom>
          <a:solidFill>
            <a:srgbClr val="10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-548640" y="0"/>
            <a:ext cx="2743200" cy="6858000"/>
          </a:xfrm>
          <a:prstGeom prst="rect">
            <a:avLst/>
          </a:prstGeom>
          <a:solidFill>
            <a:srgbClr val="11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00000">
            <a:off x="91439" y="0"/>
            <a:ext cx="2743200" cy="6858000"/>
          </a:xfrm>
          <a:prstGeom prst="rect">
            <a:avLst/>
          </a:prstGeom>
          <a:solidFill>
            <a:srgbClr val="12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731519" y="0"/>
            <a:ext cx="2743200" cy="6858000"/>
          </a:xfrm>
          <a:prstGeom prst="rect">
            <a:avLst/>
          </a:prstGeom>
          <a:solidFill>
            <a:srgbClr val="13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00000">
            <a:off x="1371600" y="0"/>
            <a:ext cx="2743200" cy="6858000"/>
          </a:xfrm>
          <a:prstGeom prst="rect">
            <a:avLst/>
          </a:prstGeom>
          <a:solidFill>
            <a:srgbClr val="14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800000">
            <a:off x="2011679" y="0"/>
            <a:ext cx="2743200" cy="6858000"/>
          </a:xfrm>
          <a:prstGeom prst="rect">
            <a:avLst/>
          </a:prstGeom>
          <a:solidFill>
            <a:srgbClr val="152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00000">
            <a:off x="2651759" y="0"/>
            <a:ext cx="2743200" cy="6858000"/>
          </a:xfrm>
          <a:prstGeom prst="rect">
            <a:avLst/>
          </a:prstGeom>
          <a:solidFill>
            <a:srgbClr val="16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3291839" y="0"/>
            <a:ext cx="2743200" cy="6858000"/>
          </a:xfrm>
          <a:prstGeom prst="rect">
            <a:avLst/>
          </a:prstGeom>
          <a:solidFill>
            <a:srgbClr val="1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800000">
            <a:off x="3931920" y="0"/>
            <a:ext cx="2743200" cy="6858000"/>
          </a:xfrm>
          <a:prstGeom prst="rect">
            <a:avLst/>
          </a:prstGeom>
          <a:solidFill>
            <a:srgbClr val="182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800000">
            <a:off x="4572000" y="0"/>
            <a:ext cx="2743200" cy="6858000"/>
          </a:xfrm>
          <a:prstGeom prst="rect">
            <a:avLst/>
          </a:prstGeom>
          <a:solidFill>
            <a:srgbClr val="19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">
            <a:off x="5212079" y="0"/>
            <a:ext cx="2743200" cy="6858000"/>
          </a:xfrm>
          <a:prstGeom prst="rect">
            <a:avLst/>
          </a:prstGeom>
          <a:solidFill>
            <a:srgbClr val="1A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800000">
            <a:off x="5852159" y="0"/>
            <a:ext cx="2743200" cy="6858000"/>
          </a:xfrm>
          <a:prstGeom prst="rect">
            <a:avLst/>
          </a:prstGeom>
          <a:solidFill>
            <a:srgbClr val="1B3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800000">
            <a:off x="6492240" y="0"/>
            <a:ext cx="2743200" cy="6858000"/>
          </a:xfrm>
          <a:prstGeom prst="rect">
            <a:avLst/>
          </a:prstGeom>
          <a:solidFill>
            <a:srgbClr val="1C3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800000">
            <a:off x="7132319" y="0"/>
            <a:ext cx="27432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1280160"/>
            <a:ext cx="3383280" cy="4297680"/>
          </a:xfrm>
          <a:prstGeom prst="roundRect">
            <a:avLst>
              <a:gd name="adj" fmla="val 1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I_trends_2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160520" y="96012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0" y="91440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8FAF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60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6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Rapid advancements in machine learning and deep learning</a:t>
            </a:r>
          </a:p>
          <a:p>
            <a:pPr>
              <a:spcAft>
                <a:spcPts val="16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Increasing adoption of AI in various industries</a:t>
            </a:r>
          </a:p>
          <a:p>
            <a:pPr>
              <a:spcAft>
                <a:spcPts val="16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Growth of AI-driven automation and robotics</a:t>
            </a:r>
          </a:p>
          <a:p>
            <a:pPr>
              <a:spcAft>
                <a:spcPts val="16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Expansion of natural language processing and computer 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ture_AI_technolo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4572000"/>
            <a:ext cx="7315200" cy="1828800"/>
          </a:xfrm>
          <a:prstGeom prst="roundRect">
            <a:avLst>
              <a:gd name="adj" fmla="val 8000"/>
            </a:avLst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Potential Advancements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10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11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13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14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15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182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193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1B3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1C3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60A5FA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60A5FA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3657600"/>
            <a:ext cx="2286000" cy="2286000"/>
          </a:xfrm>
          <a:prstGeom prst="ellipse">
            <a:avLst/>
          </a:prstGeom>
          <a:solidFill>
            <a:srgbClr val="60A5FA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I_eth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754880" y="914400"/>
            <a:ext cx="4114800" cy="502920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Segoe UI"/>
              </a:defRPr>
            </a:pPr>
            <a:r>
              <a:t>Ethical Considerations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560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• Ensuring transparency and explainability in AI systems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• Addressing bias and fairness in AI algorithms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• Protecting privacy and data security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• Establishing regulations and guidelines for AI development and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2700000">
            <a:off x="-1828800" y="1828800"/>
            <a:ext cx="5486400" cy="2743200"/>
          </a:xfrm>
          <a:prstGeom prst="ellipse">
            <a:avLst/>
          </a:prstGeom>
          <a:solidFill>
            <a:srgbClr val="1E3A8A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700000">
            <a:off x="914400" y="3200400"/>
            <a:ext cx="5486400" cy="2743200"/>
          </a:xfrm>
          <a:prstGeom prst="ellipse">
            <a:avLst/>
          </a:prstGeom>
          <a:solidFill>
            <a:srgbClr val="1E3A8A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2700000">
            <a:off x="3657600" y="4572000"/>
            <a:ext cx="5486400" cy="2743200"/>
          </a:xfrm>
          <a:prstGeom prst="ellipse">
            <a:avLst/>
          </a:prstGeom>
          <a:solidFill>
            <a:srgbClr val="1E3A8A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2700000">
            <a:off x="6400800" y="5943600"/>
            <a:ext cx="5486400" cy="2743200"/>
          </a:xfrm>
          <a:prstGeom prst="ellipse">
            <a:avLst/>
          </a:prstGeom>
          <a:solidFill>
            <a:srgbClr val="1E3A8A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96012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91440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CBD5E1"/>
                </a:solidFill>
                <a:latin typeface="Segoe UI"/>
              </a:defRPr>
            </a:pPr>
            <a:r>
              <a:t>• The future of AI holds immense potential for innovation and progress</a:t>
            </a:r>
          </a:p>
          <a:p>
            <a:pPr>
              <a:spcAft>
                <a:spcPts val="1800"/>
              </a:spcAft>
              <a:defRPr sz="2000">
                <a:solidFill>
                  <a:srgbClr val="CBD5E1"/>
                </a:solidFill>
                <a:latin typeface="Segoe UI"/>
              </a:defRPr>
            </a:pPr>
            <a:r>
              <a:t>• Ethical considerations and responsible development are crucial</a:t>
            </a:r>
          </a:p>
          <a:p>
            <a:pPr>
              <a:spcAft>
                <a:spcPts val="1800"/>
              </a:spcAft>
              <a:defRPr sz="2000">
                <a:solidFill>
                  <a:srgbClr val="CBD5E1"/>
                </a:solidFill>
                <a:latin typeface="Segoe UI"/>
              </a:defRPr>
            </a:pPr>
            <a:r>
              <a:t>• Continuous learning and adaptation are key to staying ahead in the AI landscape</a:t>
            </a:r>
          </a:p>
          <a:p>
            <a:pPr>
              <a:spcAft>
                <a:spcPts val="1800"/>
              </a:spcAft>
              <a:defRPr sz="2000">
                <a:solidFill>
                  <a:srgbClr val="CBD5E1"/>
                </a:solidFill>
                <a:latin typeface="Segoe UI"/>
              </a:defRPr>
            </a:pPr>
            <a:r>
              <a:t>• 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