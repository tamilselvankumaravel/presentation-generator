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828800"/>
          </a:xfrm>
          <a:prstGeom prst="rect">
            <a:avLst/>
          </a:prstGeom>
          <a:solidFill>
            <a:srgbClr val="7C2D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9144000" cy="1828800"/>
          </a:xfrm>
          <a:prstGeom prst="rect">
            <a:avLst/>
          </a:prstGeom>
          <a:solidFill>
            <a:srgbClr val="98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743200"/>
            <a:ext cx="9144000" cy="1828800"/>
          </a:xfrm>
          <a:prstGeom prst="rect">
            <a:avLst/>
          </a:prstGeom>
          <a:solidFill>
            <a:srgbClr val="B43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114800"/>
            <a:ext cx="9144000" cy="1828800"/>
          </a:xfrm>
          <a:prstGeom prst="rect">
            <a:avLst/>
          </a:prstGeom>
          <a:solidFill>
            <a:srgbClr val="D041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486400"/>
            <a:ext cx="9144000" cy="182880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371600" y="1828800"/>
            <a:ext cx="6400800" cy="32004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2286000"/>
            <a:ext cx="5486400" cy="1828800"/>
          </a:xfrm>
          <a:prstGeom prst="rect">
            <a:avLst/>
          </a:prstGeom>
          <a:noFill/>
        </p:spPr>
        <p:txBody>
          <a:bodyPr wrap="square">
            <a:spAutoFit/>
          </a:bodyPr>
          <a:lstStyle/>
          <a:p>
            <a:pPr algn="ctr">
              <a:defRPr sz="7200" b="1">
                <a:solidFill>
                  <a:srgbClr val="1E293B"/>
                </a:solidFill>
                <a:latin typeface="Segoe UI"/>
              </a:defRPr>
            </a:pPr>
            <a:r>
              <a:t>The Future of AI</a:t>
            </a:r>
          </a:p>
        </p:txBody>
      </p:sp>
      <p:sp>
        <p:nvSpPr>
          <p:cNvPr id="9" name="TextBox 8"/>
          <p:cNvSpPr txBox="1"/>
          <p:nvPr/>
        </p:nvSpPr>
        <p:spPr>
          <a:xfrm>
            <a:off x="1828800" y="4114800"/>
            <a:ext cx="5486400" cy="731520"/>
          </a:xfrm>
          <a:prstGeom prst="rect">
            <a:avLst/>
          </a:prstGeom>
          <a:noFill/>
        </p:spPr>
        <p:txBody>
          <a:bodyPr wrap="none">
            <a:spAutoFit/>
          </a:bodyPr>
          <a:lstStyle/>
          <a:p>
            <a:pPr algn="ctr">
              <a:defRPr sz="2000">
                <a:solidFill>
                  <a:srgbClr val="475569"/>
                </a:solidFill>
                <a:latin typeface="Segoe UI"/>
              </a:defRPr>
            </a:pPr>
            <a:r>
              <a:t>This presentation explores the future of Artificial Intelligence, its potential impacts, and the ethical considerations we must address. We will delve into emerging trends, AI's role in various sectors, and the steps we can take to shape a responsible AI-driven future.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828800"/>
          </a:xfrm>
          <a:prstGeom prst="rect">
            <a:avLst/>
          </a:prstGeom>
          <a:solidFill>
            <a:srgbClr val="7C2D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9144000" cy="1828800"/>
          </a:xfrm>
          <a:prstGeom prst="rect">
            <a:avLst/>
          </a:prstGeom>
          <a:solidFill>
            <a:srgbClr val="98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743200"/>
            <a:ext cx="9144000" cy="1828800"/>
          </a:xfrm>
          <a:prstGeom prst="rect">
            <a:avLst/>
          </a:prstGeom>
          <a:solidFill>
            <a:srgbClr val="B43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114800"/>
            <a:ext cx="9144000" cy="1828800"/>
          </a:xfrm>
          <a:prstGeom prst="rect">
            <a:avLst/>
          </a:prstGeom>
          <a:solidFill>
            <a:srgbClr val="D041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486400"/>
            <a:ext cx="9144000" cy="182880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371600" y="914400"/>
            <a:ext cx="6400800" cy="5029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1371600"/>
            <a:ext cx="5486400" cy="914400"/>
          </a:xfrm>
          <a:prstGeom prst="rect">
            <a:avLst/>
          </a:prstGeom>
          <a:noFill/>
        </p:spPr>
        <p:txBody>
          <a:bodyPr wrap="none">
            <a:spAutoFit/>
          </a:bodyPr>
          <a:lstStyle/>
          <a:p>
            <a:pPr algn="ctr">
              <a:defRPr sz="4400" b="1">
                <a:solidFill>
                  <a:srgbClr val="1E293B"/>
                </a:solidFill>
                <a:latin typeface="Segoe UI"/>
              </a:defRPr>
            </a:pPr>
            <a:r>
              <a:t>The Future of AI</a:t>
            </a:r>
          </a:p>
        </p:txBody>
      </p:sp>
      <p:sp>
        <p:nvSpPr>
          <p:cNvPr id="9" name="TextBox 8"/>
          <p:cNvSpPr txBox="1"/>
          <p:nvPr/>
        </p:nvSpPr>
        <p:spPr>
          <a:xfrm>
            <a:off x="2286000" y="2743200"/>
            <a:ext cx="4572000" cy="2743200"/>
          </a:xfrm>
          <a:prstGeom prst="rect">
            <a:avLst/>
          </a:prstGeom>
          <a:noFill/>
        </p:spPr>
        <p:txBody>
          <a:bodyPr wrap="none">
            <a:spAutoFit/>
          </a:bodyPr>
          <a:lstStyle/>
          <a:p/>
          <a:p>
            <a:pPr algn="l">
              <a:spcAft>
                <a:spcPts val="1600"/>
              </a:spcAft>
              <a:defRPr sz="2000">
                <a:solidFill>
                  <a:srgbClr val="475569"/>
                </a:solidFill>
                <a:latin typeface="Segoe UI"/>
              </a:defRPr>
            </a:pPr>
            <a:r>
              <a:t>• Exploring the potential of Artificial Intelligence</a:t>
            </a:r>
          </a:p>
          <a:p>
            <a:pPr algn="l">
              <a:spcAft>
                <a:spcPts val="1600"/>
              </a:spcAft>
              <a:defRPr sz="2000">
                <a:solidFill>
                  <a:srgbClr val="475569"/>
                </a:solidFill>
                <a:latin typeface="Segoe UI"/>
              </a:defRPr>
            </a:pPr>
            <a:r>
              <a:t>• Understanding the impacts and implications</a:t>
            </a:r>
          </a:p>
          <a:p>
            <a:pPr algn="l">
              <a:spcAft>
                <a:spcPts val="1600"/>
              </a:spcAft>
              <a:defRPr sz="2000">
                <a:solidFill>
                  <a:srgbClr val="475569"/>
                </a:solidFill>
                <a:latin typeface="Segoe UI"/>
              </a:defRPr>
            </a:pPr>
            <a:r>
              <a:t>• Shaping a responsible AI-driven future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828800"/>
          </a:xfrm>
          <a:prstGeom prst="rect">
            <a:avLst/>
          </a:prstGeom>
          <a:solidFill>
            <a:srgbClr val="7C2D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9144000" cy="1828800"/>
          </a:xfrm>
          <a:prstGeom prst="rect">
            <a:avLst/>
          </a:prstGeom>
          <a:solidFill>
            <a:srgbClr val="98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743200"/>
            <a:ext cx="9144000" cy="1828800"/>
          </a:xfrm>
          <a:prstGeom prst="rect">
            <a:avLst/>
          </a:prstGeom>
          <a:solidFill>
            <a:srgbClr val="B43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114800"/>
            <a:ext cx="9144000" cy="1828800"/>
          </a:xfrm>
          <a:prstGeom prst="rect">
            <a:avLst/>
          </a:prstGeom>
          <a:solidFill>
            <a:srgbClr val="D041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486400"/>
            <a:ext cx="9144000" cy="182880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merging_AI_trends.jpg"/>
          <p:cNvPicPr>
            <a:picLocks noChangeAspect="1"/>
          </p:cNvPicPr>
          <p:nvPr/>
        </p:nvPicPr>
        <p:blipFill>
          <a:blip r:embed="rId2"/>
          <a:stretch>
            <a:fillRect/>
          </a:stretch>
        </p:blipFill>
        <p:spPr>
          <a:xfrm>
            <a:off x="457200" y="1371600"/>
            <a:ext cx="3200400" cy="4114800"/>
          </a:xfrm>
          <a:prstGeom prst="rect">
            <a:avLst/>
          </a:prstGeom>
        </p:spPr>
      </p:pic>
      <p:sp>
        <p:nvSpPr>
          <p:cNvPr id="8" name="Rounded Rectangle 7"/>
          <p:cNvSpPr/>
          <p:nvPr/>
        </p:nvSpPr>
        <p:spPr>
          <a:xfrm>
            <a:off x="4114800" y="914400"/>
            <a:ext cx="4572000" cy="5029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371600"/>
            <a:ext cx="3657600" cy="914400"/>
          </a:xfrm>
          <a:prstGeom prst="rect">
            <a:avLst/>
          </a:prstGeom>
          <a:noFill/>
        </p:spPr>
        <p:txBody>
          <a:bodyPr wrap="none">
            <a:spAutoFit/>
          </a:bodyPr>
          <a:lstStyle/>
          <a:p>
            <a:pPr>
              <a:defRPr sz="4000" b="1">
                <a:solidFill>
                  <a:srgbClr val="1E293B"/>
                </a:solidFill>
                <a:latin typeface="Segoe UI"/>
              </a:defRPr>
            </a:pPr>
            <a:r>
              <a:t>Emerging Trends in AI</a:t>
            </a:r>
          </a:p>
        </p:txBody>
      </p:sp>
      <p:sp>
        <p:nvSpPr>
          <p:cNvPr id="10" name="TextBox 9"/>
          <p:cNvSpPr txBox="1"/>
          <p:nvPr/>
        </p:nvSpPr>
        <p:spPr>
          <a:xfrm>
            <a:off x="4572000" y="2560320"/>
            <a:ext cx="3657600" cy="2926080"/>
          </a:xfrm>
          <a:prstGeom prst="rect">
            <a:avLst/>
          </a:prstGeom>
          <a:noFill/>
        </p:spPr>
        <p:txBody>
          <a:bodyPr wrap="none">
            <a:spAutoFit/>
          </a:bodyPr>
          <a:lstStyle/>
          <a:p/>
          <a:p>
            <a:pPr>
              <a:spcAft>
                <a:spcPts val="1400"/>
              </a:spcAft>
              <a:defRPr sz="1800">
                <a:solidFill>
                  <a:srgbClr val="475569"/>
                </a:solidFill>
                <a:latin typeface="Segoe UI"/>
              </a:defRPr>
            </a:pPr>
            <a:r>
              <a:t>• Advancements in machine learning and deep learning</a:t>
            </a:r>
          </a:p>
          <a:p>
            <a:pPr>
              <a:spcAft>
                <a:spcPts val="1400"/>
              </a:spcAft>
              <a:defRPr sz="1800">
                <a:solidFill>
                  <a:srgbClr val="475569"/>
                </a:solidFill>
                <a:latin typeface="Segoe UI"/>
              </a:defRPr>
            </a:pPr>
            <a:r>
              <a:t>• The rise of explainable AI (XAI) for transparency</a:t>
            </a:r>
          </a:p>
          <a:p>
            <a:pPr>
              <a:spcAft>
                <a:spcPts val="1400"/>
              </a:spcAft>
              <a:defRPr sz="1800">
                <a:solidFill>
                  <a:srgbClr val="475569"/>
                </a:solidFill>
                <a:latin typeface="Segoe UI"/>
              </a:defRPr>
            </a:pPr>
            <a:r>
              <a:t>• Integration of AI with IoT and edge computing</a:t>
            </a:r>
          </a:p>
          <a:p>
            <a:pPr>
              <a:spcAft>
                <a:spcPts val="1400"/>
              </a:spcAft>
              <a:defRPr sz="1800">
                <a:solidFill>
                  <a:srgbClr val="475569"/>
                </a:solidFill>
                <a:latin typeface="Segoe UI"/>
              </a:defRPr>
            </a:pPr>
            <a:r>
              <a:t>• Growth of AI in healthcare, finance, and autonomous vehicles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828800"/>
          </a:xfrm>
          <a:prstGeom prst="rect">
            <a:avLst/>
          </a:prstGeom>
          <a:solidFill>
            <a:srgbClr val="7C2D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9144000" cy="1828800"/>
          </a:xfrm>
          <a:prstGeom prst="rect">
            <a:avLst/>
          </a:prstGeom>
          <a:solidFill>
            <a:srgbClr val="98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743200"/>
            <a:ext cx="9144000" cy="1828800"/>
          </a:xfrm>
          <a:prstGeom prst="rect">
            <a:avLst/>
          </a:prstGeom>
          <a:solidFill>
            <a:srgbClr val="B43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114800"/>
            <a:ext cx="9144000" cy="1828800"/>
          </a:xfrm>
          <a:prstGeom prst="rect">
            <a:avLst/>
          </a:prstGeom>
          <a:solidFill>
            <a:srgbClr val="D041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486400"/>
            <a:ext cx="9144000" cy="182880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914400"/>
            <a:ext cx="4572000" cy="5029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71600"/>
            <a:ext cx="3657600" cy="914400"/>
          </a:xfrm>
          <a:prstGeom prst="rect">
            <a:avLst/>
          </a:prstGeom>
          <a:noFill/>
        </p:spPr>
        <p:txBody>
          <a:bodyPr wrap="none">
            <a:spAutoFit/>
          </a:bodyPr>
          <a:lstStyle/>
          <a:p>
            <a:pPr>
              <a:defRPr sz="4000" b="1">
                <a:solidFill>
                  <a:srgbClr val="1E293B"/>
                </a:solidFill>
                <a:latin typeface="Segoe UI"/>
              </a:defRPr>
            </a:pPr>
            <a:r>
              <a:t>AI's Role in Various Sectors</a:t>
            </a:r>
          </a:p>
        </p:txBody>
      </p:sp>
      <p:sp>
        <p:nvSpPr>
          <p:cNvPr id="9" name="TextBox 8"/>
          <p:cNvSpPr txBox="1"/>
          <p:nvPr/>
        </p:nvSpPr>
        <p:spPr>
          <a:xfrm>
            <a:off x="914400" y="2560320"/>
            <a:ext cx="3657600" cy="2926080"/>
          </a:xfrm>
          <a:prstGeom prst="rect">
            <a:avLst/>
          </a:prstGeom>
          <a:noFill/>
        </p:spPr>
        <p:txBody>
          <a:bodyPr wrap="none">
            <a:spAutoFit/>
          </a:bodyPr>
          <a:lstStyle/>
          <a:p/>
          <a:p>
            <a:pPr>
              <a:spcAft>
                <a:spcPts val="1400"/>
              </a:spcAft>
              <a:defRPr sz="1800">
                <a:solidFill>
                  <a:srgbClr val="475569"/>
                </a:solidFill>
                <a:latin typeface="Segoe UI"/>
              </a:defRPr>
            </a:pPr>
            <a:r>
              <a:t>• Healthcare: AI-driven diagnostics and personalized medicine</a:t>
            </a:r>
          </a:p>
          <a:p>
            <a:pPr>
              <a:spcAft>
                <a:spcPts val="1400"/>
              </a:spcAft>
              <a:defRPr sz="1800">
                <a:solidFill>
                  <a:srgbClr val="475569"/>
                </a:solidFill>
                <a:latin typeface="Segoe UI"/>
              </a:defRPr>
            </a:pPr>
            <a:r>
              <a:t>• Finance: Fraud detection, algorithmic trading, and risk assessment</a:t>
            </a:r>
          </a:p>
          <a:p>
            <a:pPr>
              <a:spcAft>
                <a:spcPts val="1400"/>
              </a:spcAft>
              <a:defRPr sz="1800">
                <a:solidFill>
                  <a:srgbClr val="475569"/>
                </a:solidFill>
                <a:latin typeface="Segoe UI"/>
              </a:defRPr>
            </a:pPr>
            <a:r>
              <a:t>• Automotive: Self-driving cars and advanced driver-assistance systems (ADAS)</a:t>
            </a:r>
          </a:p>
          <a:p>
            <a:pPr>
              <a:spcAft>
                <a:spcPts val="1400"/>
              </a:spcAft>
              <a:defRPr sz="1800">
                <a:solidFill>
                  <a:srgbClr val="475569"/>
                </a:solidFill>
                <a:latin typeface="Segoe UI"/>
              </a:defRPr>
            </a:pPr>
            <a:r>
              <a:t>• Manufacturing: Predictive maintenance and quality control</a:t>
            </a:r>
          </a:p>
        </p:txBody>
      </p:sp>
      <p:pic>
        <p:nvPicPr>
          <p:cNvPr id="10" name="Picture 9" descr="AI_in_different_industries.jpg"/>
          <p:cNvPicPr>
            <a:picLocks noChangeAspect="1"/>
          </p:cNvPicPr>
          <p:nvPr/>
        </p:nvPicPr>
        <p:blipFill>
          <a:blip r:embed="rId2"/>
          <a:stretch>
            <a:fillRect/>
          </a:stretch>
        </p:blipFill>
        <p:spPr>
          <a:xfrm>
            <a:off x="5486400" y="1371600"/>
            <a:ext cx="3200400" cy="4114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828800"/>
          </a:xfrm>
          <a:prstGeom prst="rect">
            <a:avLst/>
          </a:prstGeom>
          <a:solidFill>
            <a:srgbClr val="7C2D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9144000" cy="1828800"/>
          </a:xfrm>
          <a:prstGeom prst="rect">
            <a:avLst/>
          </a:prstGeom>
          <a:solidFill>
            <a:srgbClr val="98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743200"/>
            <a:ext cx="9144000" cy="1828800"/>
          </a:xfrm>
          <a:prstGeom prst="rect">
            <a:avLst/>
          </a:prstGeom>
          <a:solidFill>
            <a:srgbClr val="B43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114800"/>
            <a:ext cx="9144000" cy="1828800"/>
          </a:xfrm>
          <a:prstGeom prst="rect">
            <a:avLst/>
          </a:prstGeom>
          <a:solidFill>
            <a:srgbClr val="D041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486400"/>
            <a:ext cx="9144000" cy="182880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thics_in_AI.jpg"/>
          <p:cNvPicPr>
            <a:picLocks noChangeAspect="1"/>
          </p:cNvPicPr>
          <p:nvPr/>
        </p:nvPicPr>
        <p:blipFill>
          <a:blip r:embed="rId2"/>
          <a:stretch>
            <a:fillRect/>
          </a:stretch>
        </p:blipFill>
        <p:spPr>
          <a:xfrm>
            <a:off x="457200" y="1371600"/>
            <a:ext cx="3200400" cy="4114800"/>
          </a:xfrm>
          <a:prstGeom prst="rect">
            <a:avLst/>
          </a:prstGeom>
        </p:spPr>
      </p:pic>
      <p:sp>
        <p:nvSpPr>
          <p:cNvPr id="8" name="Rounded Rectangle 7"/>
          <p:cNvSpPr/>
          <p:nvPr/>
        </p:nvSpPr>
        <p:spPr>
          <a:xfrm>
            <a:off x="4114800" y="914400"/>
            <a:ext cx="4572000" cy="5029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371600"/>
            <a:ext cx="3657600" cy="914400"/>
          </a:xfrm>
          <a:prstGeom prst="rect">
            <a:avLst/>
          </a:prstGeom>
          <a:noFill/>
        </p:spPr>
        <p:txBody>
          <a:bodyPr wrap="none">
            <a:spAutoFit/>
          </a:bodyPr>
          <a:lstStyle/>
          <a:p>
            <a:pPr>
              <a:defRPr sz="4000" b="1">
                <a:solidFill>
                  <a:srgbClr val="1E293B"/>
                </a:solidFill>
                <a:latin typeface="Segoe UI"/>
              </a:defRPr>
            </a:pPr>
            <a:r>
              <a:t>Ethical Considerations and Challenges</a:t>
            </a:r>
          </a:p>
        </p:txBody>
      </p:sp>
      <p:sp>
        <p:nvSpPr>
          <p:cNvPr id="10" name="TextBox 9"/>
          <p:cNvSpPr txBox="1"/>
          <p:nvPr/>
        </p:nvSpPr>
        <p:spPr>
          <a:xfrm>
            <a:off x="4572000" y="2560320"/>
            <a:ext cx="3657600" cy="2926080"/>
          </a:xfrm>
          <a:prstGeom prst="rect">
            <a:avLst/>
          </a:prstGeom>
          <a:noFill/>
        </p:spPr>
        <p:txBody>
          <a:bodyPr wrap="none">
            <a:spAutoFit/>
          </a:bodyPr>
          <a:lstStyle/>
          <a:p/>
          <a:p>
            <a:pPr>
              <a:spcAft>
                <a:spcPts val="1400"/>
              </a:spcAft>
              <a:defRPr sz="1800">
                <a:solidFill>
                  <a:srgbClr val="475569"/>
                </a:solidFill>
                <a:latin typeface="Segoe UI"/>
              </a:defRPr>
            </a:pPr>
            <a:r>
              <a:t>• Bias and fairness in AI algorithms</a:t>
            </a:r>
          </a:p>
          <a:p>
            <a:pPr>
              <a:spcAft>
                <a:spcPts val="1400"/>
              </a:spcAft>
              <a:defRPr sz="1800">
                <a:solidFill>
                  <a:srgbClr val="475569"/>
                </a:solidFill>
                <a:latin typeface="Segoe UI"/>
              </a:defRPr>
            </a:pPr>
            <a:r>
              <a:t>• Privacy concerns and data security</a:t>
            </a:r>
          </a:p>
          <a:p>
            <a:pPr>
              <a:spcAft>
                <a:spcPts val="1400"/>
              </a:spcAft>
              <a:defRPr sz="1800">
                <a:solidFill>
                  <a:srgbClr val="475569"/>
                </a:solidFill>
                <a:latin typeface="Segoe UI"/>
              </a:defRPr>
            </a:pPr>
            <a:r>
              <a:t>• Job displacement and the future of work</a:t>
            </a:r>
          </a:p>
          <a:p>
            <a:pPr>
              <a:spcAft>
                <a:spcPts val="1400"/>
              </a:spcAft>
              <a:defRPr sz="1800">
                <a:solidFill>
                  <a:srgbClr val="475569"/>
                </a:solidFill>
                <a:latin typeface="Segoe UI"/>
              </a:defRPr>
            </a:pPr>
            <a:r>
              <a:t>• Accountability and transparency in AI decision-making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828800"/>
          </a:xfrm>
          <a:prstGeom prst="rect">
            <a:avLst/>
          </a:prstGeom>
          <a:solidFill>
            <a:srgbClr val="7C2D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9144000" cy="1828800"/>
          </a:xfrm>
          <a:prstGeom prst="rect">
            <a:avLst/>
          </a:prstGeom>
          <a:solidFill>
            <a:srgbClr val="98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743200"/>
            <a:ext cx="9144000" cy="1828800"/>
          </a:xfrm>
          <a:prstGeom prst="rect">
            <a:avLst/>
          </a:prstGeom>
          <a:solidFill>
            <a:srgbClr val="B43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114800"/>
            <a:ext cx="9144000" cy="1828800"/>
          </a:xfrm>
          <a:prstGeom prst="rect">
            <a:avLst/>
          </a:prstGeom>
          <a:solidFill>
            <a:srgbClr val="D041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486400"/>
            <a:ext cx="9144000" cy="182880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371600" y="914400"/>
            <a:ext cx="6400800" cy="5029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1371600"/>
            <a:ext cx="5486400" cy="914400"/>
          </a:xfrm>
          <a:prstGeom prst="rect">
            <a:avLst/>
          </a:prstGeom>
          <a:noFill/>
        </p:spPr>
        <p:txBody>
          <a:bodyPr wrap="none">
            <a:spAutoFit/>
          </a:bodyPr>
          <a:lstStyle/>
          <a:p>
            <a:pPr algn="ctr">
              <a:defRPr sz="4400" b="1">
                <a:solidFill>
                  <a:srgbClr val="1E293B"/>
                </a:solidFill>
                <a:latin typeface="Segoe UI"/>
              </a:defRPr>
            </a:pPr>
            <a:r>
              <a:t>Conclusion</a:t>
            </a:r>
          </a:p>
        </p:txBody>
      </p:sp>
      <p:sp>
        <p:nvSpPr>
          <p:cNvPr id="9" name="TextBox 8"/>
          <p:cNvSpPr txBox="1"/>
          <p:nvPr/>
        </p:nvSpPr>
        <p:spPr>
          <a:xfrm>
            <a:off x="2286000" y="2743200"/>
            <a:ext cx="4572000" cy="2743200"/>
          </a:xfrm>
          <a:prstGeom prst="rect">
            <a:avLst/>
          </a:prstGeom>
          <a:noFill/>
        </p:spPr>
        <p:txBody>
          <a:bodyPr wrap="none">
            <a:spAutoFit/>
          </a:bodyPr>
          <a:lstStyle/>
          <a:p/>
          <a:p>
            <a:pPr algn="l">
              <a:spcAft>
                <a:spcPts val="1600"/>
              </a:spcAft>
              <a:defRPr sz="2000">
                <a:solidFill>
                  <a:srgbClr val="475569"/>
                </a:solidFill>
                <a:latin typeface="Segoe UI"/>
              </a:defRPr>
            </a:pPr>
            <a:r>
              <a:t>• The future of AI holds immense potential and significant challenges</a:t>
            </a:r>
          </a:p>
          <a:p>
            <a:pPr algn="l">
              <a:spcAft>
                <a:spcPts val="1600"/>
              </a:spcAft>
              <a:defRPr sz="2000">
                <a:solidFill>
                  <a:srgbClr val="475569"/>
                </a:solidFill>
                <a:latin typeface="Segoe UI"/>
              </a:defRPr>
            </a:pPr>
            <a:r>
              <a:t>• Collaboration between policymakers, industry, and academia is crucial</a:t>
            </a:r>
          </a:p>
          <a:p>
            <a:pPr algn="l">
              <a:spcAft>
                <a:spcPts val="1600"/>
              </a:spcAft>
              <a:defRPr sz="2000">
                <a:solidFill>
                  <a:srgbClr val="475569"/>
                </a:solidFill>
                <a:latin typeface="Segoe UI"/>
              </a:defRPr>
            </a:pPr>
            <a:r>
              <a:t>• Responsible AI development and deployment will shape our future</a:t>
            </a:r>
          </a:p>
          <a:p>
            <a:pPr algn="l">
              <a:spcAft>
                <a:spcPts val="1600"/>
              </a:spcAft>
              <a:defRPr sz="2000">
                <a:solidFill>
                  <a:srgbClr val="475569"/>
                </a:solidFill>
                <a:latin typeface="Segoe UI"/>
              </a:defRPr>
            </a:pPr>
            <a:r>
              <a:t>• Let's embrace AI's opportunities while addressing its ethical implications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