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2286000"/>
            <a:ext cx="6400800" cy="1371600"/>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40480"/>
            <a:ext cx="6400800" cy="91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640080"/>
          </a:xfrm>
        </p:spPr>
        <p:txBody>
          <a:bodyPr/>
          <a:lstStyle/>
          <a:p>
            <a:r>
              <a:rPr lang="en-US" smtClean="0"/>
              <a:t>Click to edit Master title style</a:t>
            </a:r>
            <a:endParaRPr lang="en-US"/>
          </a:p>
        </p:txBody>
      </p:sp>
      <p:sp>
        <p:nvSpPr>
          <p:cNvPr id="3" name="Content Placeholder 2"/>
          <p:cNvSpPr>
            <a:spLocks noGrp="1"/>
          </p:cNvSpPr>
          <p:nvPr>
            <p:ph idx="1"/>
          </p:nvPr>
        </p:nvSpPr>
        <p:spPr>
          <a:xfrm>
            <a:off x="914400" y="1645920"/>
            <a:ext cx="7315200" cy="42976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800" b="1">
                <a:solidFill>
                  <a:srgbClr val="F8FAFC"/>
                </a:solidFill>
                <a:latin typeface="Segoe UI"/>
              </a:defRPr>
            </a:pPr>
            <a:r>
              <a:t>The Future of AI</a:t>
            </a:r>
          </a:p>
        </p:txBody>
      </p:sp>
      <p:sp>
        <p:nvSpPr>
          <p:cNvPr id="3" name="Subtitle 2"/>
          <p:cNvSpPr>
            <a:spLocks noGrp="1"/>
          </p:cNvSpPr>
          <p:nvPr>
            <p:ph type="subTitle" idx="1"/>
          </p:nvPr>
        </p:nvSpPr>
        <p:spPr/>
        <p:txBody>
          <a:bodyPr/>
          <a:lstStyle/>
          <a:p>
            <a:pPr algn="ctr">
              <a:defRPr sz="1800">
                <a:solidFill>
                  <a:srgbClr val="94A3B8"/>
                </a:solidFill>
                <a:latin typeface="Segoe UI"/>
              </a:defRPr>
            </a:pPr>
            <a:r>
              <a:t>This presentation explores the future of Artificial Intelligence, its potential impacts, and the key trends shaping the field. We will discuss advancements, ethical considerations, and the role of AI in various industries.</a:t>
            </a:r>
          </a:p>
        </p:txBody>
      </p:sp>
      <p:sp>
        <p:nvSpPr>
          <p:cNvPr id="4" name="Rounded Rectangle 3"/>
          <p:cNvSpPr/>
          <p:nvPr/>
        </p:nvSpPr>
        <p:spPr>
          <a:xfrm>
            <a:off x="1371600" y="2011680"/>
            <a:ext cx="6400800" cy="3017520"/>
          </a:xfrm>
          <a:prstGeom prst="roundRect">
            <a:avLst>
              <a:gd name="adj" fmla="val 5000"/>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F8FAFC"/>
                </a:solidFill>
                <a:latin typeface="Segoe UI"/>
              </a:defRPr>
            </a:pPr>
            <a:r>
              <a:t>The Future of AI</a:t>
            </a:r>
          </a:p>
        </p:txBody>
      </p:sp>
      <p:sp>
        <p:nvSpPr>
          <p:cNvPr id="3" name="Content Placeholder 2"/>
          <p:cNvSpPr>
            <a:spLocks noGrp="1"/>
          </p:cNvSpPr>
          <p:nvPr>
            <p:ph idx="1"/>
          </p:nvPr>
        </p:nvSpPr>
        <p:spPr>
          <a:xfrm>
            <a:off x="914400" y="0"/>
            <a:ext cx="7315200" cy="0"/>
          </a:xfrm>
        </p:spPr>
        <p:txBody>
          <a:bodyPr/>
          <a:lstStyle/>
          <a:p>
            <a:pPr>
              <a:spcAft>
                <a:spcPts val="1200"/>
              </a:spcAft>
              <a:defRPr sz="1600">
                <a:solidFill>
                  <a:srgbClr val="F8FAFC"/>
                </a:solidFill>
                <a:latin typeface="Segoe UI"/>
              </a:defRPr>
            </a:pPr>
            <a:r>
              <a:t>An exploration of AI's potential and impact</a:t>
            </a:r>
          </a:p>
          <a:p>
            <a:pPr>
              <a:spcAft>
                <a:spcPts val="1200"/>
              </a:spcAft>
              <a:defRPr sz="1600">
                <a:solidFill>
                  <a:srgbClr val="F8FAFC"/>
                </a:solidFill>
                <a:latin typeface="Segoe UI"/>
              </a:defRPr>
            </a:pPr>
            <a:r>
              <a:t>Key trends and advancements</a:t>
            </a:r>
          </a:p>
          <a:p>
            <a:pPr>
              <a:spcAft>
                <a:spcPts val="1200"/>
              </a:spcAft>
              <a:defRPr sz="1600">
                <a:solidFill>
                  <a:srgbClr val="F8FAFC"/>
                </a:solidFill>
                <a:latin typeface="Segoe UI"/>
              </a:defRPr>
            </a:pPr>
            <a:r>
              <a:t>Ethical considerations and industry applications</a:t>
            </a:r>
          </a:p>
        </p:txBody>
      </p:sp>
      <p:sp>
        <p:nvSpPr>
          <p:cNvPr id="4" name="Rectangle 3"/>
          <p:cNvSpPr/>
          <p:nvPr/>
        </p:nvSpPr>
        <p:spPr>
          <a:xfrm>
            <a:off x="0" y="0"/>
            <a:ext cx="109728" cy="6858000"/>
          </a:xfrm>
          <a:prstGeom prst="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188720"/>
            <a:ext cx="8229600" cy="5212080"/>
          </a:xfrm>
          <a:prstGeom prst="roundRect">
            <a:avLst>
              <a:gd name="adj" fmla="val 5000"/>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88720"/>
            <a:ext cx="822960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F8FAFC"/>
                </a:solidFill>
                <a:latin typeface="Segoe UI"/>
              </a:defRPr>
            </a:pPr>
            <a:r>
              <a:t>Emerging Trends in AI</a:t>
            </a:r>
          </a:p>
        </p:txBody>
      </p:sp>
      <p:sp>
        <p:nvSpPr>
          <p:cNvPr id="3" name="Content Placeholder 2"/>
          <p:cNvSpPr>
            <a:spLocks noGrp="1"/>
          </p:cNvSpPr>
          <p:nvPr>
            <p:ph idx="1"/>
          </p:nvPr>
        </p:nvSpPr>
        <p:spPr>
          <a:xfrm>
            <a:off x="914400" y="0"/>
            <a:ext cx="4114800" cy="0"/>
          </a:xfrm>
        </p:spPr>
        <p:txBody>
          <a:bodyPr/>
          <a:lstStyle/>
          <a:p>
            <a:pPr>
              <a:spcAft>
                <a:spcPts val="1200"/>
              </a:spcAft>
              <a:defRPr sz="1600">
                <a:solidFill>
                  <a:srgbClr val="F8FAFC"/>
                </a:solidFill>
                <a:latin typeface="Segoe UI"/>
              </a:defRPr>
            </a:pPr>
            <a:r>
              <a:t>Advancements in machine learning and deep learning</a:t>
            </a:r>
          </a:p>
          <a:p>
            <a:pPr>
              <a:spcAft>
                <a:spcPts val="1200"/>
              </a:spcAft>
              <a:defRPr sz="1600">
                <a:solidFill>
                  <a:srgbClr val="F8FAFC"/>
                </a:solidFill>
                <a:latin typeface="Segoe UI"/>
              </a:defRPr>
            </a:pPr>
            <a:r>
              <a:t>The rise of AI in healthcare and finance</a:t>
            </a:r>
          </a:p>
          <a:p>
            <a:pPr>
              <a:spcAft>
                <a:spcPts val="1200"/>
              </a:spcAft>
              <a:defRPr sz="1600">
                <a:solidFill>
                  <a:srgbClr val="F8FAFC"/>
                </a:solidFill>
                <a:latin typeface="Segoe UI"/>
              </a:defRPr>
            </a:pPr>
            <a:r>
              <a:t>Integration of AI with IoT and edge computing</a:t>
            </a:r>
          </a:p>
          <a:p>
            <a:pPr>
              <a:spcAft>
                <a:spcPts val="1200"/>
              </a:spcAft>
              <a:defRPr sz="1600">
                <a:solidFill>
                  <a:srgbClr val="F8FAFC"/>
                </a:solidFill>
                <a:latin typeface="Segoe UI"/>
              </a:defRPr>
            </a:pPr>
            <a:r>
              <a:t>Explainable AI and interpretability</a:t>
            </a:r>
          </a:p>
        </p:txBody>
      </p:sp>
      <p:sp>
        <p:nvSpPr>
          <p:cNvPr id="4" name="Rectangle 3"/>
          <p:cNvSpPr/>
          <p:nvPr/>
        </p:nvSpPr>
        <p:spPr>
          <a:xfrm>
            <a:off x="0" y="0"/>
            <a:ext cx="109728" cy="6858000"/>
          </a:xfrm>
          <a:prstGeom prst="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188720"/>
            <a:ext cx="8229600" cy="5212080"/>
          </a:xfrm>
          <a:prstGeom prst="roundRect">
            <a:avLst>
              <a:gd name="adj" fmla="val 5000"/>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88720"/>
            <a:ext cx="822960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merging_trends_in_artificial_.jpg"/>
          <p:cNvPicPr>
            <a:picLocks noChangeAspect="1"/>
          </p:cNvPicPr>
          <p:nvPr/>
        </p:nvPicPr>
        <p:blipFill>
          <a:blip r:embed="rId2"/>
          <a:stretch>
            <a:fillRect/>
          </a:stretch>
        </p:blipFill>
        <p:spPr>
          <a:xfrm>
            <a:off x="5303520" y="1828800"/>
            <a:ext cx="3200400" cy="4114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F8FAFC"/>
                </a:solidFill>
                <a:latin typeface="Segoe UI"/>
              </a:defRPr>
            </a:pPr>
            <a:r>
              <a:t>AI and Industry 4.0</a:t>
            </a:r>
          </a:p>
        </p:txBody>
      </p:sp>
      <p:sp>
        <p:nvSpPr>
          <p:cNvPr id="3" name="Content Placeholder 2"/>
          <p:cNvSpPr>
            <a:spLocks noGrp="1"/>
          </p:cNvSpPr>
          <p:nvPr>
            <p:ph idx="1"/>
          </p:nvPr>
        </p:nvSpPr>
        <p:spPr>
          <a:xfrm>
            <a:off x="914400" y="0"/>
            <a:ext cx="4114800" cy="0"/>
          </a:xfrm>
        </p:spPr>
        <p:txBody>
          <a:bodyPr/>
          <a:lstStyle/>
          <a:p>
            <a:pPr>
              <a:spcAft>
                <a:spcPts val="1200"/>
              </a:spcAft>
              <a:defRPr sz="1600">
                <a:solidFill>
                  <a:srgbClr val="F8FAFC"/>
                </a:solidFill>
                <a:latin typeface="Segoe UI"/>
              </a:defRPr>
            </a:pPr>
            <a:r>
              <a:t>AI-driven automation and robotics</a:t>
            </a:r>
          </a:p>
          <a:p>
            <a:pPr>
              <a:spcAft>
                <a:spcPts val="1200"/>
              </a:spcAft>
              <a:defRPr sz="1600">
                <a:solidFill>
                  <a:srgbClr val="F8FAFC"/>
                </a:solidFill>
                <a:latin typeface="Segoe UI"/>
              </a:defRPr>
            </a:pPr>
            <a:r>
              <a:t>Predictive maintenance and smart manufacturing</a:t>
            </a:r>
          </a:p>
          <a:p>
            <a:pPr>
              <a:spcAft>
                <a:spcPts val="1200"/>
              </a:spcAft>
              <a:defRPr sz="1600">
                <a:solidFill>
                  <a:srgbClr val="F8FAFC"/>
                </a:solidFill>
                <a:latin typeface="Segoe UI"/>
              </a:defRPr>
            </a:pPr>
            <a:r>
              <a:t>AI in supply chain and logistics</a:t>
            </a:r>
          </a:p>
          <a:p>
            <a:pPr>
              <a:spcAft>
                <a:spcPts val="1200"/>
              </a:spcAft>
              <a:defRPr sz="1600">
                <a:solidFill>
                  <a:srgbClr val="F8FAFC"/>
                </a:solidFill>
                <a:latin typeface="Segoe UI"/>
              </a:defRPr>
            </a:pPr>
            <a:r>
              <a:t>Enhancing customer experiences with AI</a:t>
            </a:r>
          </a:p>
        </p:txBody>
      </p:sp>
      <p:sp>
        <p:nvSpPr>
          <p:cNvPr id="4" name="Rectangle 3"/>
          <p:cNvSpPr/>
          <p:nvPr/>
        </p:nvSpPr>
        <p:spPr>
          <a:xfrm>
            <a:off x="0" y="0"/>
            <a:ext cx="109728" cy="6858000"/>
          </a:xfrm>
          <a:prstGeom prst="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188720"/>
            <a:ext cx="8229600" cy="5212080"/>
          </a:xfrm>
          <a:prstGeom prst="roundRect">
            <a:avLst>
              <a:gd name="adj" fmla="val 5000"/>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88720"/>
            <a:ext cx="822960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I_in_Industry_4_0.jpg"/>
          <p:cNvPicPr>
            <a:picLocks noChangeAspect="1"/>
          </p:cNvPicPr>
          <p:nvPr/>
        </p:nvPicPr>
        <p:blipFill>
          <a:blip r:embed="rId2"/>
          <a:stretch>
            <a:fillRect/>
          </a:stretch>
        </p:blipFill>
        <p:spPr>
          <a:xfrm>
            <a:off x="5303520" y="1828800"/>
            <a:ext cx="3200400" cy="4114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F8FAFC"/>
                </a:solidFill>
                <a:latin typeface="Segoe UI"/>
              </a:defRPr>
            </a:pPr>
            <a:r>
              <a:t>Ethical Considerations and Challenges</a:t>
            </a:r>
          </a:p>
        </p:txBody>
      </p:sp>
      <p:sp>
        <p:nvSpPr>
          <p:cNvPr id="3" name="Content Placeholder 2"/>
          <p:cNvSpPr>
            <a:spLocks noGrp="1"/>
          </p:cNvSpPr>
          <p:nvPr>
            <p:ph idx="1"/>
          </p:nvPr>
        </p:nvSpPr>
        <p:spPr>
          <a:xfrm>
            <a:off x="914400" y="0"/>
            <a:ext cx="4114800" cy="0"/>
          </a:xfrm>
        </p:spPr>
        <p:txBody>
          <a:bodyPr/>
          <a:lstStyle/>
          <a:p>
            <a:pPr>
              <a:spcAft>
                <a:spcPts val="1200"/>
              </a:spcAft>
              <a:defRPr sz="1600">
                <a:solidFill>
                  <a:srgbClr val="F8FAFC"/>
                </a:solidFill>
                <a:latin typeface="Segoe UI"/>
              </a:defRPr>
            </a:pPr>
            <a:r>
              <a:t>Bias and fairness in AI algorithms</a:t>
            </a:r>
          </a:p>
          <a:p>
            <a:pPr>
              <a:spcAft>
                <a:spcPts val="1200"/>
              </a:spcAft>
              <a:defRPr sz="1600">
                <a:solidFill>
                  <a:srgbClr val="F8FAFC"/>
                </a:solidFill>
                <a:latin typeface="Segoe UI"/>
              </a:defRPr>
            </a:pPr>
            <a:r>
              <a:t>Privacy and security concerns</a:t>
            </a:r>
          </a:p>
          <a:p>
            <a:pPr>
              <a:spcAft>
                <a:spcPts val="1200"/>
              </a:spcAft>
              <a:defRPr sz="1600">
                <a:solidFill>
                  <a:srgbClr val="F8FAFC"/>
                </a:solidFill>
                <a:latin typeface="Segoe UI"/>
              </a:defRPr>
            </a:pPr>
            <a:r>
              <a:t>Job displacement and workforce transformation</a:t>
            </a:r>
          </a:p>
          <a:p>
            <a:pPr>
              <a:spcAft>
                <a:spcPts val="1200"/>
              </a:spcAft>
              <a:defRPr sz="1600">
                <a:solidFill>
                  <a:srgbClr val="F8FAFC"/>
                </a:solidFill>
                <a:latin typeface="Segoe UI"/>
              </a:defRPr>
            </a:pPr>
            <a:r>
              <a:t>Regulatory frameworks and governance</a:t>
            </a:r>
          </a:p>
        </p:txBody>
      </p:sp>
      <p:sp>
        <p:nvSpPr>
          <p:cNvPr id="4" name="Rectangle 3"/>
          <p:cNvSpPr/>
          <p:nvPr/>
        </p:nvSpPr>
        <p:spPr>
          <a:xfrm>
            <a:off x="0" y="0"/>
            <a:ext cx="109728" cy="6858000"/>
          </a:xfrm>
          <a:prstGeom prst="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188720"/>
            <a:ext cx="8229600" cy="5212080"/>
          </a:xfrm>
          <a:prstGeom prst="roundRect">
            <a:avLst>
              <a:gd name="adj" fmla="val 5000"/>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88720"/>
            <a:ext cx="822960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thical_considerations_in_AI.jpg"/>
          <p:cNvPicPr>
            <a:picLocks noChangeAspect="1"/>
          </p:cNvPicPr>
          <p:nvPr/>
        </p:nvPicPr>
        <p:blipFill>
          <a:blip r:embed="rId2"/>
          <a:stretch>
            <a:fillRect/>
          </a:stretch>
        </p:blipFill>
        <p:spPr>
          <a:xfrm>
            <a:off x="5303520" y="1828800"/>
            <a:ext cx="3200400" cy="4114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F8FAFC"/>
                </a:solidFill>
                <a:latin typeface="Segoe UI"/>
              </a:defRPr>
            </a:pPr>
            <a:r>
              <a:t>Conclusion</a:t>
            </a:r>
          </a:p>
        </p:txBody>
      </p:sp>
      <p:sp>
        <p:nvSpPr>
          <p:cNvPr id="3" name="Content Placeholder 2"/>
          <p:cNvSpPr>
            <a:spLocks noGrp="1"/>
          </p:cNvSpPr>
          <p:nvPr>
            <p:ph idx="1"/>
          </p:nvPr>
        </p:nvSpPr>
        <p:spPr>
          <a:xfrm>
            <a:off x="914400" y="0"/>
            <a:ext cx="4114800" cy="0"/>
          </a:xfrm>
        </p:spPr>
        <p:txBody>
          <a:bodyPr/>
          <a:lstStyle/>
          <a:p>
            <a:pPr>
              <a:spcAft>
                <a:spcPts val="1200"/>
              </a:spcAft>
              <a:defRPr sz="1600">
                <a:solidFill>
                  <a:srgbClr val="F8FAFC"/>
                </a:solidFill>
                <a:latin typeface="Segoe UI"/>
              </a:defRPr>
            </a:pPr>
            <a:r>
              <a:t>AI's potential to transform industries and society</a:t>
            </a:r>
          </a:p>
          <a:p>
            <a:pPr>
              <a:spcAft>
                <a:spcPts val="1200"/>
              </a:spcAft>
              <a:defRPr sz="1600">
                <a:solidFill>
                  <a:srgbClr val="F8FAFC"/>
                </a:solidFill>
                <a:latin typeface="Segoe UI"/>
              </a:defRPr>
            </a:pPr>
            <a:r>
              <a:t>The importance of ethical and responsible AI development</a:t>
            </a:r>
          </a:p>
          <a:p>
            <a:pPr>
              <a:spcAft>
                <a:spcPts val="1200"/>
              </a:spcAft>
              <a:defRPr sz="1600">
                <a:solidFill>
                  <a:srgbClr val="F8FAFC"/>
                </a:solidFill>
                <a:latin typeface="Segoe UI"/>
              </a:defRPr>
            </a:pPr>
            <a:r>
              <a:t>Continuous learning and adaptation in the AI landscape</a:t>
            </a:r>
          </a:p>
          <a:p>
            <a:pPr>
              <a:spcAft>
                <a:spcPts val="1200"/>
              </a:spcAft>
              <a:defRPr sz="1600">
                <a:solidFill>
                  <a:srgbClr val="F8FAFC"/>
                </a:solidFill>
                <a:latin typeface="Segoe UI"/>
              </a:defRPr>
            </a:pPr>
            <a:r>
              <a:t>Exciting future ahead with AI innovation</a:t>
            </a:r>
          </a:p>
        </p:txBody>
      </p:sp>
      <p:sp>
        <p:nvSpPr>
          <p:cNvPr id="4" name="Rectangle 3"/>
          <p:cNvSpPr/>
          <p:nvPr/>
        </p:nvSpPr>
        <p:spPr>
          <a:xfrm>
            <a:off x="0" y="0"/>
            <a:ext cx="109728" cy="6858000"/>
          </a:xfrm>
          <a:prstGeom prst="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188720"/>
            <a:ext cx="8229600" cy="5212080"/>
          </a:xfrm>
          <a:prstGeom prst="roundRect">
            <a:avLst>
              <a:gd name="adj" fmla="val 5000"/>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88720"/>
            <a:ext cx="822960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uture_of_AI_innovation.jpg"/>
          <p:cNvPicPr>
            <a:picLocks noChangeAspect="1"/>
          </p:cNvPicPr>
          <p:nvPr/>
        </p:nvPicPr>
        <p:blipFill>
          <a:blip r:embed="rId2"/>
          <a:stretch>
            <a:fillRect/>
          </a:stretch>
        </p:blipFill>
        <p:spPr>
          <a:xfrm>
            <a:off x="5303520" y="1828800"/>
            <a:ext cx="3200400" cy="4114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