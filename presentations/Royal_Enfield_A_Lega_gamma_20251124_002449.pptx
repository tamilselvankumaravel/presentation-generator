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Royal_Enfield__A_Legacy_of_Adv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0" y="457200"/>
            <a:ext cx="4114800" cy="59436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31520" y="914400"/>
            <a:ext cx="4114800" cy="2286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defRPr sz="2800" b="1">
                <a:solidFill>
                  <a:srgbClr val="0A5C8C"/>
                </a:solidFill>
                <a:latin typeface="Segoe UI"/>
              </a:defRPr>
            </a:pPr>
            <a:r>
              <a:t>Royal Enfield: A Legacy of Adventure and Innovation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4114800"/>
            <a:ext cx="4114800" cy="1828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40000"/>
              </a:lnSpc>
              <a:defRPr sz="1600">
                <a:solidFill>
                  <a:srgbClr val="0A5C8C"/>
                </a:solidFill>
                <a:latin typeface="Segoe UI"/>
              </a:defRPr>
            </a:pPr>
            <a:r>
              <a:t>This presentation explores the rich history, unique features, market presence, and future prospects of Royal Enfield, a iconic motorcycle brand. Discover what sets Royal Enfield apart in the world of motorcycling.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217920"/>
            <a:ext cx="4114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300">
                <a:solidFill>
                  <a:srgbClr val="6B7280"/>
                </a:solidFill>
                <a:latin typeface="Segoe UI"/>
              </a:defRPr>
            </a:pPr>
            <a:r>
              <a:t>by AI Research Team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7680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0A5C8C"/>
                </a:solidFill>
                <a:latin typeface="Segoe UI"/>
              </a:defRPr>
            </a:pPr>
            <a:r>
              <a:t>Royal Enfield: A Legacy of Adventure and Innovation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371600" y="2286000"/>
            <a:ext cx="6400800" cy="914400"/>
          </a:xfrm>
          <a:prstGeom prst="roundRect">
            <a:avLst>
              <a:gd name="adj" fmla="val 10000"/>
            </a:avLst>
          </a:prstGeom>
          <a:solidFill>
            <a:srgbClr val="D4E9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828800" y="2468880"/>
            <a:ext cx="5486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0A5C8C"/>
                </a:solidFill>
                <a:latin typeface="Segoe UI"/>
              </a:defRPr>
            </a:pPr>
            <a:r>
              <a:t>• Established in 1901, Royal Enfield is one of the oldest motorcycle brands in the world.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371600" y="3383280"/>
            <a:ext cx="6400800" cy="914400"/>
          </a:xfrm>
          <a:prstGeom prst="roundRect">
            <a:avLst>
              <a:gd name="adj" fmla="val 10000"/>
            </a:avLst>
          </a:prstGeom>
          <a:solidFill>
            <a:srgbClr val="D4E9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828800" y="3566160"/>
            <a:ext cx="5486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0A5C8C"/>
                </a:solidFill>
                <a:latin typeface="Segoe UI"/>
              </a:defRPr>
            </a:pPr>
            <a:r>
              <a:t>• Known for its classic design and robust engineering, Royal Enfield has a cult following.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371600" y="4480560"/>
            <a:ext cx="6400800" cy="914400"/>
          </a:xfrm>
          <a:prstGeom prst="roundRect">
            <a:avLst>
              <a:gd name="adj" fmla="val 10000"/>
            </a:avLst>
          </a:prstGeom>
          <a:solidFill>
            <a:srgbClr val="D4E9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828800" y="4663440"/>
            <a:ext cx="5486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0A5C8C"/>
                </a:solidFill>
                <a:latin typeface="Segoe UI"/>
              </a:defRPr>
            </a:pPr>
            <a:r>
              <a:t>• The brand is owned by Eicher Motors and is headquartered in Chennai, India.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600" b="1">
                <a:solidFill>
                  <a:srgbClr val="0A5C8C"/>
                </a:solidFill>
                <a:latin typeface="Segoe UI"/>
              </a:defRPr>
            </a:pPr>
            <a:r>
              <a:t>History and Evolution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828800"/>
            <a:ext cx="3840480" cy="1188720"/>
          </a:xfrm>
          <a:prstGeom prst="roundRect">
            <a:avLst>
              <a:gd name="adj" fmla="val 10000"/>
            </a:avLst>
          </a:prstGeom>
          <a:solidFill>
            <a:srgbClr val="D4E9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2057400"/>
            <a:ext cx="3200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0A5C8C"/>
                </a:solidFill>
                <a:latin typeface="Segoe UI"/>
              </a:defRPr>
            </a:pPr>
            <a:r>
              <a:t>Founded in England, Royal Enfield gained prominence during World War II for its reliable motorcycles.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3200400"/>
            <a:ext cx="3840480" cy="1188720"/>
          </a:xfrm>
          <a:prstGeom prst="roundRect">
            <a:avLst>
              <a:gd name="adj" fmla="val 10000"/>
            </a:avLst>
          </a:prstGeom>
          <a:solidFill>
            <a:srgbClr val="D4E9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3429000"/>
            <a:ext cx="3200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0A5C8C"/>
                </a:solidFill>
                <a:latin typeface="Segoe UI"/>
              </a:defRPr>
            </a:pPr>
            <a:r>
              <a:t>Post-war, the brand expanded globally, with a significant presence in India since the 1950s.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4572000"/>
            <a:ext cx="3840480" cy="1188720"/>
          </a:xfrm>
          <a:prstGeom prst="roundRect">
            <a:avLst>
              <a:gd name="adj" fmla="val 10000"/>
            </a:avLst>
          </a:prstGeom>
          <a:solidFill>
            <a:srgbClr val="D4E9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4800600"/>
            <a:ext cx="3200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0A5C8C"/>
                </a:solidFill>
                <a:latin typeface="Segoe UI"/>
              </a:defRPr>
            </a:pPr>
            <a:r>
              <a:t>In 1994, Eicher Motors acquired Royal Enfield, revitalizing the brand with modern technology and classic design.</a:t>
            </a:r>
          </a:p>
        </p:txBody>
      </p:sp>
      <p:pic>
        <p:nvPicPr>
          <p:cNvPr id="10" name="Picture 9" descr="royal_enfield_historical_motor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1828800"/>
            <a:ext cx="3474720" cy="41148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0A5C8C"/>
                </a:solidFill>
                <a:latin typeface="Segoe UI"/>
              </a:defRPr>
            </a:pPr>
            <a:r>
              <a:t>Iconic Models and Features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828800"/>
            <a:ext cx="3657600" cy="2011680"/>
          </a:xfrm>
          <a:prstGeom prst="roundRect">
            <a:avLst>
              <a:gd name="adj" fmla="val 10000"/>
            </a:avLst>
          </a:prstGeom>
          <a:solidFill>
            <a:srgbClr val="D4E9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920240"/>
            <a:ext cx="5486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400" b="1">
                <a:solidFill>
                  <a:srgbClr val="3B82F6"/>
                </a:solidFill>
                <a:latin typeface="Segoe UI"/>
              </a:defRPr>
            </a:pPr>
            <a:r>
              <a:t>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2377440"/>
            <a:ext cx="31089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defRPr sz="1200">
                <a:solidFill>
                  <a:srgbClr val="0A5C8C"/>
                </a:solidFill>
                <a:latin typeface="Segoe UI"/>
              </a:defRPr>
            </a:pPr>
            <a:r>
              <a:t>Royal Enfield is renowned for models like the Bullet, Classic, and Himalayan.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663440" y="1828800"/>
            <a:ext cx="3657600" cy="2011680"/>
          </a:xfrm>
          <a:prstGeom prst="roundRect">
            <a:avLst>
              <a:gd name="adj" fmla="val 10000"/>
            </a:avLst>
          </a:prstGeom>
          <a:solidFill>
            <a:srgbClr val="D4E9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846320" y="1920240"/>
            <a:ext cx="5486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400" b="1">
                <a:solidFill>
                  <a:srgbClr val="3B82F6"/>
                </a:solidFill>
                <a:latin typeface="Segoe UI"/>
              </a:defRPr>
            </a:pPr>
            <a:r>
              <a:t>W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937759" y="2377440"/>
            <a:ext cx="31089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defRPr sz="900">
                <a:solidFill>
                  <a:srgbClr val="0A5C8C"/>
                </a:solidFill>
                <a:latin typeface="Segoe UI"/>
              </a:defRPr>
            </a:pPr>
            <a:r>
              <a:t>These motorcycles are celebrated for their timeless design, durability, and off-road capabilities.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4114800"/>
            <a:ext cx="3657600" cy="2011680"/>
          </a:xfrm>
          <a:prstGeom prst="roundRect">
            <a:avLst>
              <a:gd name="adj" fmla="val 10000"/>
            </a:avLst>
          </a:prstGeom>
          <a:solidFill>
            <a:srgbClr val="D4E9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4206240"/>
            <a:ext cx="5486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400" b="1">
                <a:solidFill>
                  <a:srgbClr val="3B82F6"/>
                </a:solidFill>
                <a:latin typeface="Segoe UI"/>
              </a:defRPr>
            </a:pPr>
            <a:r>
              <a:t>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4663440"/>
            <a:ext cx="31089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defRPr sz="900">
                <a:solidFill>
                  <a:srgbClr val="0A5C8C"/>
                </a:solidFill>
                <a:latin typeface="Segoe UI"/>
              </a:defRPr>
            </a:pPr>
            <a:r>
              <a:t>The brand offers a unique blend of retro styling and modern engineering, appealing to a wide range of riders.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000" b="1">
                <a:solidFill>
                  <a:srgbClr val="0A5C8C"/>
                </a:solidFill>
                <a:latin typeface="Segoe UI"/>
              </a:defRPr>
            </a:pPr>
            <a:r>
              <a:t>Global Market Presence and Community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4114800" cy="1645920"/>
          </a:xfrm>
          <a:prstGeom prst="roundRect">
            <a:avLst>
              <a:gd name="adj" fmla="val 10000"/>
            </a:avLst>
          </a:prstGeom>
          <a:solidFill>
            <a:srgbClr val="D4E9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1920240"/>
            <a:ext cx="3474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defRPr sz="1000">
                <a:solidFill>
                  <a:srgbClr val="0A5C8C"/>
                </a:solidFill>
                <a:latin typeface="Segoe UI"/>
              </a:defRPr>
            </a:pPr>
            <a:r>
              <a:t>Royal Enfield has a strong presence in over 50 countries, with a significant market share in India and Europe.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3657600"/>
            <a:ext cx="4114800" cy="1645920"/>
          </a:xfrm>
          <a:prstGeom prst="roundRect">
            <a:avLst>
              <a:gd name="adj" fmla="val 10000"/>
            </a:avLst>
          </a:prstGeom>
          <a:solidFill>
            <a:srgbClr val="D4E9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3931920"/>
            <a:ext cx="3474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defRPr sz="1000">
                <a:solidFill>
                  <a:srgbClr val="0A5C8C"/>
                </a:solidFill>
                <a:latin typeface="Segoe UI"/>
              </a:defRPr>
            </a:pPr>
            <a:r>
              <a:t>The brand fosters a vibrant community of riders through events, expeditions, and the 'Ride to Work' campaign.</a:t>
            </a:r>
          </a:p>
        </p:txBody>
      </p:sp>
      <p:pic>
        <p:nvPicPr>
          <p:cNvPr id="8" name="Picture 7" descr="royal_enfield_global_market_pr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03520" y="1371600"/>
            <a:ext cx="3200400" cy="2011680"/>
          </a:xfrm>
          <a:prstGeom prst="rect">
            <a:avLst/>
          </a:prstGeom>
        </p:spPr>
      </p:pic>
      <p:pic>
        <p:nvPicPr>
          <p:cNvPr id="9" name="Picture 8" descr="royal_enfield_global_market_pr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03520" y="3657600"/>
            <a:ext cx="3200400" cy="201168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800" b="1">
                <a:solidFill>
                  <a:srgbClr val="0A5C8C"/>
                </a:solidFill>
                <a:latin typeface="Segoe UI"/>
              </a:defRPr>
            </a:pPr>
            <a:r>
              <a:t>Conclusion: The Future of Royal Enfield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828800"/>
            <a:ext cx="3840480" cy="1188720"/>
          </a:xfrm>
          <a:prstGeom prst="roundRect">
            <a:avLst>
              <a:gd name="adj" fmla="val 10000"/>
            </a:avLst>
          </a:prstGeom>
          <a:solidFill>
            <a:srgbClr val="D4E9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2057400"/>
            <a:ext cx="3200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0A5C8C"/>
                </a:solidFill>
                <a:latin typeface="Segoe UI"/>
              </a:defRPr>
            </a:pPr>
            <a:r>
              <a:t>Royal Enfield continues to innovate while staying true to its heritage.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3200400"/>
            <a:ext cx="3840480" cy="1188720"/>
          </a:xfrm>
          <a:prstGeom prst="roundRect">
            <a:avLst>
              <a:gd name="adj" fmla="val 10000"/>
            </a:avLst>
          </a:prstGeom>
          <a:solidFill>
            <a:srgbClr val="D4E9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3429000"/>
            <a:ext cx="3200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0A5C8C"/>
                </a:solidFill>
                <a:latin typeface="Segoe UI"/>
              </a:defRPr>
            </a:pPr>
            <a:r>
              <a:t>With a focus on sustainability, electric vehicles, and expanding its global footprint, the brand is poised for a dynamic future.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4572000"/>
            <a:ext cx="3840480" cy="1188720"/>
          </a:xfrm>
          <a:prstGeom prst="roundRect">
            <a:avLst>
              <a:gd name="adj" fmla="val 10000"/>
            </a:avLst>
          </a:prstGeom>
          <a:solidFill>
            <a:srgbClr val="D4E9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4800600"/>
            <a:ext cx="3200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0A5C8C"/>
                </a:solidFill>
                <a:latin typeface="Segoe UI"/>
              </a:defRPr>
            </a:pPr>
            <a:r>
              <a:t>As Royal Enfield embarks on its next century, it remains a beacon of adventure, innovation, and timeless design in the world of motorcycling.</a:t>
            </a:r>
          </a:p>
        </p:txBody>
      </p:sp>
      <p:pic>
        <p:nvPicPr>
          <p:cNvPr id="10" name="Picture 9" descr="royal_enfield_future_innovati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1828800"/>
            <a:ext cx="3474720" cy="41148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