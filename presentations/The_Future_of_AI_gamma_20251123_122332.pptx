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he_Future_of_AI_professional_.jpg"/>
          <p:cNvPicPr>
            <a:picLocks noChangeAspect="1"/>
          </p:cNvPicPr>
          <p:nvPr/>
        </p:nvPicPr>
        <p:blipFill>
          <a:blip r:embed="rId2"/>
          <a:stretch>
            <a:fillRect/>
          </a:stretch>
        </p:blipFill>
        <p:spPr>
          <a:xfrm>
            <a:off x="5486400" y="1371600"/>
            <a:ext cx="3200400" cy="4572000"/>
          </a:xfrm>
          <a:prstGeom prst="rect">
            <a:avLst/>
          </a:prstGeom>
        </p:spPr>
      </p:pic>
      <p:sp>
        <p:nvSpPr>
          <p:cNvPr id="4" name="TextBox 3"/>
          <p:cNvSpPr txBox="1"/>
          <p:nvPr/>
        </p:nvSpPr>
        <p:spPr>
          <a:xfrm>
            <a:off x="731520" y="1828800"/>
            <a:ext cx="4572000" cy="1371600"/>
          </a:xfrm>
          <a:prstGeom prst="rect">
            <a:avLst/>
          </a:prstGeom>
          <a:noFill/>
        </p:spPr>
        <p:txBody>
          <a:bodyPr wrap="square">
            <a:spAutoFit/>
          </a:bodyPr>
          <a:lstStyle/>
          <a:p>
            <a:pPr algn="l">
              <a:lnSpc>
                <a:spcPct val="100000"/>
              </a:lnSpc>
              <a:defRPr sz="6400" b="1">
                <a:solidFill>
                  <a:srgbClr val="0A5C8C"/>
                </a:solidFill>
                <a:latin typeface="Segoe UI"/>
              </a:defRPr>
            </a:pPr>
            <a:r>
              <a:t>The Future of AI</a:t>
            </a:r>
          </a:p>
        </p:txBody>
      </p:sp>
      <p:sp>
        <p:nvSpPr>
          <p:cNvPr id="5" name="TextBox 4"/>
          <p:cNvSpPr txBox="1"/>
          <p:nvPr/>
        </p:nvSpPr>
        <p:spPr>
          <a:xfrm>
            <a:off x="731520" y="3474720"/>
            <a:ext cx="4572000" cy="914400"/>
          </a:xfrm>
          <a:prstGeom prst="rect">
            <a:avLst/>
          </a:prstGeom>
          <a:noFill/>
        </p:spPr>
        <p:txBody>
          <a:bodyPr wrap="square">
            <a:spAutoFit/>
          </a:bodyPr>
          <a:lstStyle/>
          <a:p>
            <a:pPr algn="l">
              <a:defRPr sz="1800">
                <a:solidFill>
                  <a:srgbClr val="0A5C8C"/>
                </a:solidFill>
                <a:latin typeface="Segoe UI"/>
              </a:defRPr>
            </a:pPr>
            <a:r>
              <a:t>This presentation explores the advancements, impacts, and ethical considerations of artificial intelligence in the coming years. It provides insights into how AI is expected to shape various sectors and our daily lives.</a:t>
            </a:r>
          </a:p>
        </p:txBody>
      </p:sp>
      <p:sp>
        <p:nvSpPr>
          <p:cNvPr id="6" name="TextBox 5"/>
          <p:cNvSpPr txBox="1"/>
          <p:nvPr/>
        </p:nvSpPr>
        <p:spPr>
          <a:xfrm>
            <a:off x="731520" y="4572000"/>
            <a:ext cx="4572000" cy="457200"/>
          </a:xfrm>
          <a:prstGeom prst="rect">
            <a:avLst/>
          </a:prstGeom>
          <a:noFill/>
        </p:spPr>
        <p:txBody>
          <a:bodyPr wrap="none">
            <a:spAutoFit/>
          </a:bodyPr>
          <a:lstStyle/>
          <a:p>
            <a:pPr algn="l">
              <a:defRPr sz="1400">
                <a:solidFill>
                  <a:srgbClr val="6B7280"/>
                </a:solidFill>
                <a:latin typeface="Segoe UI"/>
              </a:defRPr>
            </a:pPr>
            <a:r>
              <a:t>by AI Research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914400"/>
          </a:xfrm>
          <a:prstGeom prst="rect">
            <a:avLst/>
          </a:prstGeom>
          <a:noFill/>
        </p:spPr>
        <p:txBody>
          <a:bodyPr wrap="none">
            <a:spAutoFit/>
          </a:bodyPr>
          <a:lstStyle/>
          <a:p>
            <a:pPr algn="l">
              <a:defRPr sz="4800" b="1">
                <a:solidFill>
                  <a:srgbClr val="0A5C8C"/>
                </a:solidFill>
                <a:latin typeface="Segoe UI"/>
              </a:defRPr>
            </a:pPr>
            <a:r>
              <a:t>The Future of AI</a:t>
            </a:r>
          </a:p>
        </p:txBody>
      </p:sp>
      <p:sp>
        <p:nvSpPr>
          <p:cNvPr id="4" name="Rounded Rectangle 3"/>
          <p:cNvSpPr/>
          <p:nvPr/>
        </p:nvSpPr>
        <p:spPr>
          <a:xfrm>
            <a:off x="1371600" y="228600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468880"/>
            <a:ext cx="5486400" cy="548640"/>
          </a:xfrm>
          <a:prstGeom prst="rect">
            <a:avLst/>
          </a:prstGeom>
          <a:noFill/>
        </p:spPr>
        <p:txBody>
          <a:bodyPr wrap="none">
            <a:spAutoFit/>
          </a:bodyPr>
          <a:lstStyle/>
          <a:p>
            <a:pPr>
              <a:defRPr sz="1600">
                <a:solidFill>
                  <a:srgbClr val="0A5C8C"/>
                </a:solidFill>
                <a:latin typeface="Segoe UI"/>
              </a:defRPr>
            </a:pPr>
            <a:r>
              <a:t>• An exploration of AI's advancements and impacts</a:t>
            </a:r>
          </a:p>
        </p:txBody>
      </p:sp>
      <p:sp>
        <p:nvSpPr>
          <p:cNvPr id="6" name="Rounded Rectangle 5"/>
          <p:cNvSpPr/>
          <p:nvPr/>
        </p:nvSpPr>
        <p:spPr>
          <a:xfrm>
            <a:off x="1371600" y="338328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3566160"/>
            <a:ext cx="5486400" cy="548640"/>
          </a:xfrm>
          <a:prstGeom prst="rect">
            <a:avLst/>
          </a:prstGeom>
          <a:noFill/>
        </p:spPr>
        <p:txBody>
          <a:bodyPr wrap="none">
            <a:spAutoFit/>
          </a:bodyPr>
          <a:lstStyle/>
          <a:p>
            <a:pPr>
              <a:defRPr sz="1600">
                <a:solidFill>
                  <a:srgbClr val="0A5C8C"/>
                </a:solidFill>
                <a:latin typeface="Segoe UI"/>
              </a:defRPr>
            </a:pPr>
            <a:r>
              <a:t>• Understanding the potential of AI in various sectors</a:t>
            </a:r>
          </a:p>
        </p:txBody>
      </p:sp>
      <p:sp>
        <p:nvSpPr>
          <p:cNvPr id="8" name="Rounded Rectangle 7"/>
          <p:cNvSpPr/>
          <p:nvPr/>
        </p:nvSpPr>
        <p:spPr>
          <a:xfrm>
            <a:off x="1371600" y="4480560"/>
            <a:ext cx="6400800" cy="91440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4663440"/>
            <a:ext cx="5486400" cy="548640"/>
          </a:xfrm>
          <a:prstGeom prst="rect">
            <a:avLst/>
          </a:prstGeom>
          <a:noFill/>
        </p:spPr>
        <p:txBody>
          <a:bodyPr wrap="none">
            <a:spAutoFit/>
          </a:bodyPr>
          <a:lstStyle/>
          <a:p>
            <a:pPr>
              <a:defRPr sz="1600">
                <a:solidFill>
                  <a:srgbClr val="0A5C8C"/>
                </a:solidFill>
                <a:latin typeface="Segoe UI"/>
              </a:defRPr>
            </a:pPr>
            <a:r>
              <a:t>• Ethical considerations and future challenges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Advancements in AI Technology</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1400">
                <a:solidFill>
                  <a:srgbClr val="0A5C8C"/>
                </a:solidFill>
                <a:latin typeface="Segoe UI"/>
              </a:defRPr>
            </a:pPr>
            <a:r>
              <a:t>Breakthroughs in machine learning and deep learning</a:t>
            </a:r>
          </a:p>
        </p:txBody>
      </p:sp>
      <p:sp>
        <p:nvSpPr>
          <p:cNvPr id="6" name="Rounded Rectangle 5"/>
          <p:cNvSpPr/>
          <p:nvPr/>
        </p:nvSpPr>
        <p:spPr>
          <a:xfrm>
            <a:off x="731520" y="32004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29000"/>
            <a:ext cx="3200400" cy="731520"/>
          </a:xfrm>
          <a:prstGeom prst="rect">
            <a:avLst/>
          </a:prstGeom>
          <a:noFill/>
        </p:spPr>
        <p:txBody>
          <a:bodyPr wrap="square">
            <a:spAutoFit/>
          </a:bodyPr>
          <a:lstStyle/>
          <a:p>
            <a:pPr>
              <a:defRPr sz="1400">
                <a:solidFill>
                  <a:srgbClr val="0A5C8C"/>
                </a:solidFill>
                <a:latin typeface="Segoe UI"/>
              </a:defRPr>
            </a:pPr>
            <a:r>
              <a:t>Improvements in natural language processing and computer vision</a:t>
            </a:r>
          </a:p>
        </p:txBody>
      </p:sp>
      <p:sp>
        <p:nvSpPr>
          <p:cNvPr id="8" name="Rounded Rectangle 7"/>
          <p:cNvSpPr/>
          <p:nvPr/>
        </p:nvSpPr>
        <p:spPr>
          <a:xfrm>
            <a:off x="731520" y="45720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00600"/>
            <a:ext cx="3200400" cy="731520"/>
          </a:xfrm>
          <a:prstGeom prst="rect">
            <a:avLst/>
          </a:prstGeom>
          <a:noFill/>
        </p:spPr>
        <p:txBody>
          <a:bodyPr wrap="square">
            <a:spAutoFit/>
          </a:bodyPr>
          <a:lstStyle/>
          <a:p>
            <a:pPr>
              <a:defRPr sz="1400">
                <a:solidFill>
                  <a:srgbClr val="0A5C8C"/>
                </a:solidFill>
                <a:latin typeface="Segoe UI"/>
              </a:defRPr>
            </a:pPr>
            <a:r>
              <a:t>The rise of autonomous systems and robotics</a:t>
            </a:r>
          </a:p>
        </p:txBody>
      </p:sp>
      <p:pic>
        <p:nvPicPr>
          <p:cNvPr id="10" name="Picture 9" descr="AI_technology_advancements.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ctr">
              <a:defRPr sz="3600" b="1">
                <a:solidFill>
                  <a:srgbClr val="0A5C8C"/>
                </a:solidFill>
                <a:latin typeface="Segoe UI"/>
              </a:defRPr>
            </a:pPr>
            <a:r>
              <a:t>AI's Impact on Industries</a:t>
            </a:r>
          </a:p>
        </p:txBody>
      </p:sp>
      <p:sp>
        <p:nvSpPr>
          <p:cNvPr id="4" name="Rounded Rectangle 3"/>
          <p:cNvSpPr/>
          <p:nvPr/>
        </p:nvSpPr>
        <p:spPr>
          <a:xfrm>
            <a:off x="73152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2560320"/>
            <a:ext cx="548640" cy="548640"/>
          </a:xfrm>
          <a:prstGeom prst="rect">
            <a:avLst/>
          </a:prstGeom>
          <a:noFill/>
        </p:spPr>
        <p:txBody>
          <a:bodyPr wrap="none">
            <a:spAutoFit/>
          </a:bodyPr>
          <a:lstStyle/>
          <a:p>
            <a:pPr algn="ctr">
              <a:defRPr sz="3200" b="1">
                <a:solidFill>
                  <a:srgbClr val="3B82F6"/>
                </a:solidFill>
                <a:latin typeface="Segoe UI"/>
              </a:defRPr>
            </a:pPr>
            <a:r>
              <a:t>S</a:t>
            </a:r>
          </a:p>
        </p:txBody>
      </p:sp>
      <p:sp>
        <p:nvSpPr>
          <p:cNvPr id="6" name="TextBox 5"/>
          <p:cNvSpPr txBox="1"/>
          <p:nvPr/>
        </p:nvSpPr>
        <p:spPr>
          <a:xfrm>
            <a:off x="1005840" y="2103120"/>
            <a:ext cx="3108960" cy="1463040"/>
          </a:xfrm>
          <a:prstGeom prst="rect">
            <a:avLst/>
          </a:prstGeom>
          <a:noFill/>
        </p:spPr>
        <p:txBody>
          <a:bodyPr wrap="square">
            <a:spAutoFit/>
          </a:bodyPr>
          <a:lstStyle/>
          <a:p>
            <a:pPr>
              <a:lnSpc>
                <a:spcPct val="130000"/>
              </a:lnSpc>
              <a:defRPr sz="1300">
                <a:solidFill>
                  <a:srgbClr val="0A5C8C"/>
                </a:solidFill>
                <a:latin typeface="Segoe UI"/>
              </a:defRPr>
            </a:pPr>
            <a:r>
              <a:t>Healthcare: AI-driven diagnostics and personalized medicine</a:t>
            </a:r>
          </a:p>
        </p:txBody>
      </p:sp>
      <p:sp>
        <p:nvSpPr>
          <p:cNvPr id="7" name="Rounded Rectangle 6"/>
          <p:cNvSpPr/>
          <p:nvPr/>
        </p:nvSpPr>
        <p:spPr>
          <a:xfrm>
            <a:off x="4663440" y="1828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560320"/>
            <a:ext cx="548640" cy="548640"/>
          </a:xfrm>
          <a:prstGeom prst="rect">
            <a:avLst/>
          </a:prstGeom>
          <a:noFill/>
        </p:spPr>
        <p:txBody>
          <a:bodyPr wrap="none">
            <a:spAutoFit/>
          </a:bodyPr>
          <a:lstStyle/>
          <a:p>
            <a:pPr algn="ctr">
              <a:defRPr sz="3200" b="1">
                <a:solidFill>
                  <a:srgbClr val="3B82F6"/>
                </a:solidFill>
                <a:latin typeface="Segoe UI"/>
              </a:defRPr>
            </a:pPr>
            <a:r>
              <a:t>W</a:t>
            </a:r>
          </a:p>
        </p:txBody>
      </p:sp>
      <p:sp>
        <p:nvSpPr>
          <p:cNvPr id="9" name="TextBox 8"/>
          <p:cNvSpPr txBox="1"/>
          <p:nvPr/>
        </p:nvSpPr>
        <p:spPr>
          <a:xfrm>
            <a:off x="4937759" y="2103120"/>
            <a:ext cx="3108960" cy="1463040"/>
          </a:xfrm>
          <a:prstGeom prst="rect">
            <a:avLst/>
          </a:prstGeom>
          <a:noFill/>
        </p:spPr>
        <p:txBody>
          <a:bodyPr wrap="square">
            <a:spAutoFit/>
          </a:bodyPr>
          <a:lstStyle/>
          <a:p>
            <a:pPr>
              <a:lnSpc>
                <a:spcPct val="130000"/>
              </a:lnSpc>
              <a:defRPr sz="1300">
                <a:solidFill>
                  <a:srgbClr val="0A5C8C"/>
                </a:solidFill>
                <a:latin typeface="Segoe UI"/>
              </a:defRPr>
            </a:pPr>
            <a:r>
              <a:t>Finance: AI for fraud detection and algorithmic trading</a:t>
            </a:r>
          </a:p>
        </p:txBody>
      </p:sp>
      <p:sp>
        <p:nvSpPr>
          <p:cNvPr id="10" name="Rounded Rectangle 9"/>
          <p:cNvSpPr/>
          <p:nvPr/>
        </p:nvSpPr>
        <p:spPr>
          <a:xfrm>
            <a:off x="73152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0" y="4846320"/>
            <a:ext cx="548640" cy="548640"/>
          </a:xfrm>
          <a:prstGeom prst="rect">
            <a:avLst/>
          </a:prstGeom>
          <a:noFill/>
        </p:spPr>
        <p:txBody>
          <a:bodyPr wrap="none">
            <a:spAutoFit/>
          </a:bodyPr>
          <a:lstStyle/>
          <a:p>
            <a:pPr algn="ctr">
              <a:defRPr sz="3200" b="1">
                <a:solidFill>
                  <a:srgbClr val="3B82F6"/>
                </a:solidFill>
                <a:latin typeface="Segoe UI"/>
              </a:defRPr>
            </a:pPr>
            <a:r>
              <a:t>T</a:t>
            </a:r>
          </a:p>
        </p:txBody>
      </p:sp>
      <p:sp>
        <p:nvSpPr>
          <p:cNvPr id="12" name="TextBox 11"/>
          <p:cNvSpPr txBox="1"/>
          <p:nvPr/>
        </p:nvSpPr>
        <p:spPr>
          <a:xfrm>
            <a:off x="1005840" y="4389120"/>
            <a:ext cx="3108960" cy="1463040"/>
          </a:xfrm>
          <a:prstGeom prst="rect">
            <a:avLst/>
          </a:prstGeom>
          <a:noFill/>
        </p:spPr>
        <p:txBody>
          <a:bodyPr wrap="square">
            <a:spAutoFit/>
          </a:bodyPr>
          <a:lstStyle/>
          <a:p>
            <a:pPr>
              <a:lnSpc>
                <a:spcPct val="130000"/>
              </a:lnSpc>
              <a:defRPr sz="1300">
                <a:solidFill>
                  <a:srgbClr val="0A5C8C"/>
                </a:solidFill>
                <a:latin typeface="Segoe UI"/>
              </a:defRPr>
            </a:pPr>
            <a:r>
              <a:t>Transportation: Autonomous vehicles and smart traffic management</a:t>
            </a:r>
          </a:p>
        </p:txBody>
      </p:sp>
      <p:sp>
        <p:nvSpPr>
          <p:cNvPr id="13" name="Rounded Rectangle 12"/>
          <p:cNvSpPr/>
          <p:nvPr/>
        </p:nvSpPr>
        <p:spPr>
          <a:xfrm>
            <a:off x="4663440" y="4114800"/>
            <a:ext cx="3657600" cy="201168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4846320"/>
            <a:ext cx="548640" cy="548640"/>
          </a:xfrm>
          <a:prstGeom prst="rect">
            <a:avLst/>
          </a:prstGeom>
          <a:noFill/>
        </p:spPr>
        <p:txBody>
          <a:bodyPr wrap="none">
            <a:spAutoFit/>
          </a:bodyPr>
          <a:lstStyle/>
          <a:p>
            <a:pPr algn="ctr">
              <a:defRPr sz="3200" b="1">
                <a:solidFill>
                  <a:srgbClr val="3B82F6"/>
                </a:solidFill>
                <a:latin typeface="Segoe UI"/>
              </a:defRPr>
            </a:pPr>
            <a:r>
              <a:t>O</a:t>
            </a:r>
          </a:p>
        </p:txBody>
      </p:sp>
      <p:sp>
        <p:nvSpPr>
          <p:cNvPr id="15" name="TextBox 14"/>
          <p:cNvSpPr txBox="1"/>
          <p:nvPr/>
        </p:nvSpPr>
        <p:spPr>
          <a:xfrm>
            <a:off x="4937759" y="4389120"/>
            <a:ext cx="3108960" cy="1463040"/>
          </a:xfrm>
          <a:prstGeom prst="rect">
            <a:avLst/>
          </a:prstGeom>
          <a:noFill/>
        </p:spPr>
        <p:txBody>
          <a:bodyPr wrap="square">
            <a:spAutoFit/>
          </a:bodyPr>
          <a:lstStyle/>
          <a:p>
            <a:pPr>
              <a:lnSpc>
                <a:spcPct val="130000"/>
              </a:lnSpc>
              <a:defRPr sz="1300">
                <a:solidFill>
                  <a:srgbClr val="0A5C8C"/>
                </a:solidFill>
                <a:latin typeface="Segoe UI"/>
              </a:defRPr>
            </a:pPr>
            <a:r>
              <a:t>Manufacturing: AI-powered predictive maintenance and quality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4000" b="1">
                <a:solidFill>
                  <a:srgbClr val="0A5C8C"/>
                </a:solidFill>
                <a:latin typeface="Segoe UI"/>
              </a:defRPr>
            </a:pPr>
            <a:r>
              <a:t>Ethical Considerations and Challenges</a:t>
            </a:r>
          </a:p>
        </p:txBody>
      </p:sp>
      <p:sp>
        <p:nvSpPr>
          <p:cNvPr id="4" name="Rounded Rectangle 3"/>
          <p:cNvSpPr/>
          <p:nvPr/>
        </p:nvSpPr>
        <p:spPr>
          <a:xfrm>
            <a:off x="731520" y="164592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20240"/>
            <a:ext cx="3474720" cy="1097280"/>
          </a:xfrm>
          <a:prstGeom prst="rect">
            <a:avLst/>
          </a:prstGeom>
          <a:noFill/>
        </p:spPr>
        <p:txBody>
          <a:bodyPr wrap="square">
            <a:spAutoFit/>
          </a:bodyPr>
          <a:lstStyle/>
          <a:p>
            <a:pPr>
              <a:lnSpc>
                <a:spcPct val="130000"/>
              </a:lnSpc>
              <a:defRPr sz="1600">
                <a:solidFill>
                  <a:srgbClr val="0A5C8C"/>
                </a:solidFill>
                <a:latin typeface="Segoe UI"/>
              </a:defRPr>
            </a:pPr>
            <a:r>
              <a:t>Bias and fairness in AI algorithms</a:t>
            </a:r>
          </a:p>
        </p:txBody>
      </p:sp>
      <p:sp>
        <p:nvSpPr>
          <p:cNvPr id="6" name="Rounded Rectangle 5"/>
          <p:cNvSpPr/>
          <p:nvPr/>
        </p:nvSpPr>
        <p:spPr>
          <a:xfrm>
            <a:off x="731520" y="3657600"/>
            <a:ext cx="4114800" cy="16459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931920"/>
            <a:ext cx="3474720" cy="1097280"/>
          </a:xfrm>
          <a:prstGeom prst="rect">
            <a:avLst/>
          </a:prstGeom>
          <a:noFill/>
        </p:spPr>
        <p:txBody>
          <a:bodyPr wrap="square">
            <a:spAutoFit/>
          </a:bodyPr>
          <a:lstStyle/>
          <a:p>
            <a:pPr>
              <a:lnSpc>
                <a:spcPct val="130000"/>
              </a:lnSpc>
              <a:defRPr sz="1600">
                <a:solidFill>
                  <a:srgbClr val="0A5C8C"/>
                </a:solidFill>
                <a:latin typeface="Segoe UI"/>
              </a:defRPr>
            </a:pPr>
            <a:r>
              <a:t>Privacy concerns and data security</a:t>
            </a:r>
          </a:p>
        </p:txBody>
      </p:sp>
      <p:pic>
        <p:nvPicPr>
          <p:cNvPr id="8" name="Picture 7" descr="AI_ethics_and_challenges.jpg"/>
          <p:cNvPicPr>
            <a:picLocks noChangeAspect="1"/>
          </p:cNvPicPr>
          <p:nvPr/>
        </p:nvPicPr>
        <p:blipFill>
          <a:blip r:embed="rId2"/>
          <a:stretch>
            <a:fillRect/>
          </a:stretch>
        </p:blipFill>
        <p:spPr>
          <a:xfrm>
            <a:off x="5303520" y="1371600"/>
            <a:ext cx="3200400" cy="2011680"/>
          </a:xfrm>
          <a:prstGeom prst="rect">
            <a:avLst/>
          </a:prstGeom>
        </p:spPr>
      </p:pic>
      <p:pic>
        <p:nvPicPr>
          <p:cNvPr id="9" name="Picture 8" descr="AI_ethics_and_challenges.jpg"/>
          <p:cNvPicPr>
            <a:picLocks noChangeAspect="1"/>
          </p:cNvPicPr>
          <p:nvPr/>
        </p:nvPicPr>
        <p:blipFill>
          <a:blip r:embed="rId2"/>
          <a:stretch>
            <a:fillRect/>
          </a:stretch>
        </p:blipFill>
        <p:spPr>
          <a:xfrm>
            <a:off x="5303520" y="3657600"/>
            <a:ext cx="3200400" cy="2011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lgn="l">
              <a:defRPr sz="3600" b="1">
                <a:solidFill>
                  <a:srgbClr val="0A5C8C"/>
                </a:solidFill>
                <a:latin typeface="Segoe UI"/>
              </a:defRPr>
            </a:pPr>
            <a:r>
              <a:t>Conclusion</a:t>
            </a:r>
          </a:p>
        </p:txBody>
      </p:sp>
      <p:sp>
        <p:nvSpPr>
          <p:cNvPr id="4" name="Rounded Rectangle 3"/>
          <p:cNvSpPr/>
          <p:nvPr/>
        </p:nvSpPr>
        <p:spPr>
          <a:xfrm>
            <a:off x="731520" y="18288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57400"/>
            <a:ext cx="3200400" cy="731520"/>
          </a:xfrm>
          <a:prstGeom prst="rect">
            <a:avLst/>
          </a:prstGeom>
          <a:noFill/>
        </p:spPr>
        <p:txBody>
          <a:bodyPr wrap="square">
            <a:spAutoFit/>
          </a:bodyPr>
          <a:lstStyle/>
          <a:p>
            <a:pPr>
              <a:defRPr sz="1400">
                <a:solidFill>
                  <a:srgbClr val="0A5C8C"/>
                </a:solidFill>
                <a:latin typeface="Segoe UI"/>
              </a:defRPr>
            </a:pPr>
            <a:r>
              <a:t>AI's potential is vast and transformative</a:t>
            </a:r>
          </a:p>
        </p:txBody>
      </p:sp>
      <p:sp>
        <p:nvSpPr>
          <p:cNvPr id="6" name="Rounded Rectangle 5"/>
          <p:cNvSpPr/>
          <p:nvPr/>
        </p:nvSpPr>
        <p:spPr>
          <a:xfrm>
            <a:off x="731520" y="32004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429000"/>
            <a:ext cx="3200400" cy="731520"/>
          </a:xfrm>
          <a:prstGeom prst="rect">
            <a:avLst/>
          </a:prstGeom>
          <a:noFill/>
        </p:spPr>
        <p:txBody>
          <a:bodyPr wrap="square">
            <a:spAutoFit/>
          </a:bodyPr>
          <a:lstStyle/>
          <a:p>
            <a:pPr>
              <a:defRPr sz="1400">
                <a:solidFill>
                  <a:srgbClr val="0A5C8C"/>
                </a:solidFill>
                <a:latin typeface="Segoe UI"/>
              </a:defRPr>
            </a:pPr>
            <a:r>
              <a:t>Collaboration between technologists, policymakers, and society is crucial</a:t>
            </a:r>
          </a:p>
        </p:txBody>
      </p:sp>
      <p:sp>
        <p:nvSpPr>
          <p:cNvPr id="8" name="Rounded Rectangle 7"/>
          <p:cNvSpPr/>
          <p:nvPr/>
        </p:nvSpPr>
        <p:spPr>
          <a:xfrm>
            <a:off x="731520" y="4572000"/>
            <a:ext cx="3840480" cy="1188720"/>
          </a:xfrm>
          <a:prstGeom prst="roundRect">
            <a:avLst>
              <a:gd name="adj" fmla="val 10000"/>
            </a:avLst>
          </a:prstGeom>
          <a:solidFill>
            <a:srgbClr val="D4E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00600"/>
            <a:ext cx="3200400" cy="731520"/>
          </a:xfrm>
          <a:prstGeom prst="rect">
            <a:avLst/>
          </a:prstGeom>
          <a:noFill/>
        </p:spPr>
        <p:txBody>
          <a:bodyPr wrap="square">
            <a:spAutoFit/>
          </a:bodyPr>
          <a:lstStyle/>
          <a:p>
            <a:pPr>
              <a:defRPr sz="1400">
                <a:solidFill>
                  <a:srgbClr val="0A5C8C"/>
                </a:solidFill>
                <a:latin typeface="Segoe UI"/>
              </a:defRPr>
            </a:pPr>
            <a:r>
              <a:t>Addressing ethical challenges will shape AI's future</a:t>
            </a:r>
          </a:p>
        </p:txBody>
      </p:sp>
      <p:pic>
        <p:nvPicPr>
          <p:cNvPr id="10" name="Picture 9" descr="AI_future_conclusion.jpg"/>
          <p:cNvPicPr>
            <a:picLocks noChangeAspect="1"/>
          </p:cNvPicPr>
          <p:nvPr/>
        </p:nvPicPr>
        <p:blipFill>
          <a:blip r:embed="rId2"/>
          <a:stretch>
            <a:fillRect/>
          </a:stretch>
        </p:blipFill>
        <p:spPr>
          <a:xfrm>
            <a:off x="5029200" y="1828800"/>
            <a:ext cx="347472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