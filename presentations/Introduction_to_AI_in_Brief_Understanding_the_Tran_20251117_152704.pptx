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0"/>
            <a:ext cx="8229600" cy="1371600"/>
          </a:xfrm>
          <a:prstGeom prst="rect">
            <a:avLst/>
          </a:prstGeom>
          <a:noFill/>
        </p:spPr>
        <p:txBody>
          <a:bodyPr wrap="none">
            <a:spAutoFit/>
          </a:bodyPr>
          <a:lstStyle/>
          <a:p>
            <a:pPr algn="ctr">
              <a:defRPr sz="4400" b="1">
                <a:solidFill>
                  <a:srgbClr val="003366"/>
                </a:solidFill>
              </a:defRPr>
            </a:pPr>
            <a:r>
              <a:t>Introduction to AI in Brief: Understanding the Transformative Power of Artificial Intelligence</a:t>
            </a:r>
          </a:p>
        </p:txBody>
      </p:sp>
      <p:sp>
        <p:nvSpPr>
          <p:cNvPr id="3" name="TextBox 2"/>
          <p:cNvSpPr txBox="1"/>
          <p:nvPr/>
        </p:nvSpPr>
        <p:spPr>
          <a:xfrm>
            <a:off x="914400" y="3657600"/>
            <a:ext cx="7315200" cy="914400"/>
          </a:xfrm>
          <a:prstGeom prst="rect">
            <a:avLst/>
          </a:prstGeom>
          <a:noFill/>
        </p:spPr>
        <p:txBody>
          <a:bodyPr wrap="none">
            <a:spAutoFit/>
          </a:bodyPr>
          <a:lstStyle/>
          <a:p>
            <a:pPr algn="ctr">
              <a:defRPr sz="1800">
                <a:solidFill>
                  <a:srgbClr val="6699CC"/>
                </a:solidFill>
              </a:defRPr>
            </a:pPr>
            <a:r>
              <a:t>This presentation explores the fundamental concepts, impacts, and opportunities that artificial intelligence (AI) presents for businesses today. By understanding its capabilities and limitations, organizations can better harness this technology to drive innovation and growth.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731520"/>
          </a:xfrm>
          <a:prstGeom prst="rect">
            <a:avLst/>
          </a:prstGeom>
          <a:noFill/>
        </p:spPr>
        <p:txBody>
          <a:bodyPr wrap="none">
            <a:spAutoFit/>
          </a:bodyPr>
          <a:lstStyle/>
          <a:p>
            <a:pPr>
              <a:defRPr sz="3200" b="1">
                <a:solidFill>
                  <a:srgbClr val="003366"/>
                </a:solidFill>
              </a:defRPr>
            </a:pPr>
            <a:r>
              <a:t>1. The Evolution of AI</a:t>
            </a:r>
          </a:p>
        </p:txBody>
      </p:sp>
      <p:sp>
        <p:nvSpPr>
          <p:cNvPr id="3" name="TextBox 2"/>
          <p:cNvSpPr txBox="1"/>
          <p:nvPr/>
        </p:nvSpPr>
        <p:spPr>
          <a:xfrm>
            <a:off x="731520" y="1645920"/>
            <a:ext cx="7772400" cy="457200"/>
          </a:xfrm>
          <a:prstGeom prst="rect">
            <a:avLst/>
          </a:prstGeom>
          <a:noFill/>
        </p:spPr>
        <p:txBody>
          <a:bodyPr wrap="none">
            <a:spAutoFit/>
          </a:bodyPr>
          <a:lstStyle/>
          <a:p>
            <a:pPr>
              <a:spcAft>
                <a:spcPts val="1200"/>
              </a:spcAft>
              <a:defRPr sz="1800">
                <a:solidFill>
                  <a:srgbClr val="333333"/>
                </a:solidFill>
              </a:defRPr>
            </a:pPr>
            <a:r>
              <a:t>• AI has evolved significantly since the term was coined in a science fiction short story by Arthur C. Clarke published in Reader's Digest.</a:t>
            </a:r>
          </a:p>
        </p:txBody>
      </p:sp>
      <p:sp>
        <p:nvSpPr>
          <p:cNvPr id="4" name="TextBox 3"/>
          <p:cNvSpPr txBox="1"/>
          <p:nvPr/>
        </p:nvSpPr>
        <p:spPr>
          <a:xfrm>
            <a:off x="731520" y="2194560"/>
            <a:ext cx="7772400" cy="457200"/>
          </a:xfrm>
          <a:prstGeom prst="rect">
            <a:avLst/>
          </a:prstGeom>
          <a:noFill/>
        </p:spPr>
        <p:txBody>
          <a:bodyPr wrap="none">
            <a:spAutoFit/>
          </a:bodyPr>
          <a:lstStyle/>
          <a:p>
            <a:pPr>
              <a:spcAft>
                <a:spcPts val="1200"/>
              </a:spcAft>
              <a:defRPr sz="1800">
                <a:solidFill>
                  <a:srgbClr val="333333"/>
                </a:solidFill>
              </a:defRPr>
            </a:pPr>
            <a:r>
              <a:t>• Today’s machine learning algorithms can learn and adapt to new data, enabling them to perform tasks that were once considered exclusive to human intelligence.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731520"/>
          </a:xfrm>
          <a:prstGeom prst="rect">
            <a:avLst/>
          </a:prstGeom>
          <a:noFill/>
        </p:spPr>
        <p:txBody>
          <a:bodyPr wrap="none">
            <a:spAutoFit/>
          </a:bodyPr>
          <a:lstStyle/>
          <a:p>
            <a:pPr>
              <a:defRPr sz="3200" b="1">
                <a:solidFill>
                  <a:srgbClr val="003366"/>
                </a:solidFill>
              </a:defRPr>
            </a:pPr>
            <a:r>
              <a:t>2. Key Concepts of AI</a:t>
            </a:r>
          </a:p>
        </p:txBody>
      </p:sp>
      <p:sp>
        <p:nvSpPr>
          <p:cNvPr id="3" name="TextBox 2"/>
          <p:cNvSpPr txBox="1"/>
          <p:nvPr/>
        </p:nvSpPr>
        <p:spPr>
          <a:xfrm>
            <a:off x="731520" y="1645920"/>
            <a:ext cx="7772400" cy="457200"/>
          </a:xfrm>
          <a:prstGeom prst="rect">
            <a:avLst/>
          </a:prstGeom>
          <a:noFill/>
        </p:spPr>
        <p:txBody>
          <a:bodyPr wrap="none">
            <a:spAutoFit/>
          </a:bodyPr>
          <a:lstStyle/>
          <a:p>
            <a:pPr>
              <a:spcAft>
                <a:spcPts val="1200"/>
              </a:spcAft>
              <a:defRPr sz="1800">
                <a:solidFill>
                  <a:srgbClr val="333333"/>
                </a:solidFill>
              </a:defRPr>
            </a:pPr>
            <a:r>
              <a:t>• Machine Learning: Algorithms enable machines to learn from and make predictions based on data.</a:t>
            </a:r>
          </a:p>
        </p:txBody>
      </p:sp>
      <p:sp>
        <p:nvSpPr>
          <p:cNvPr id="4" name="TextBox 3"/>
          <p:cNvSpPr txBox="1"/>
          <p:nvPr/>
        </p:nvSpPr>
        <p:spPr>
          <a:xfrm>
            <a:off x="731520" y="2194560"/>
            <a:ext cx="7772400" cy="457200"/>
          </a:xfrm>
          <a:prstGeom prst="rect">
            <a:avLst/>
          </a:prstGeom>
          <a:noFill/>
        </p:spPr>
        <p:txBody>
          <a:bodyPr wrap="none">
            <a:spAutoFit/>
          </a:bodyPr>
          <a:lstStyle/>
          <a:p>
            <a:pPr>
              <a:spcAft>
                <a:spcPts val="1200"/>
              </a:spcAft>
              <a:defRPr sz="1800">
                <a:solidFill>
                  <a:srgbClr val="333333"/>
                </a:solidFill>
              </a:defRPr>
            </a:pPr>
            <a:r>
              <a:t>• Natural Language Processing (NLP): Allows computers to understand human language.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731520"/>
          </a:xfrm>
          <a:prstGeom prst="rect">
            <a:avLst/>
          </a:prstGeom>
          <a:noFill/>
        </p:spPr>
        <p:txBody>
          <a:bodyPr wrap="none">
            <a:spAutoFit/>
          </a:bodyPr>
          <a:lstStyle/>
          <a:p>
            <a:pPr>
              <a:defRPr sz="3200" b="1">
                <a:solidFill>
                  <a:srgbClr val="003366"/>
                </a:solidFill>
              </a:defRPr>
            </a:pPr>
            <a:r>
              <a:t>3. Impact of AI in Business</a:t>
            </a:r>
          </a:p>
        </p:txBody>
      </p:sp>
      <p:sp>
        <p:nvSpPr>
          <p:cNvPr id="3" name="TextBox 2"/>
          <p:cNvSpPr txBox="1"/>
          <p:nvPr/>
        </p:nvSpPr>
        <p:spPr>
          <a:xfrm>
            <a:off x="731520" y="1645920"/>
            <a:ext cx="7772400" cy="457200"/>
          </a:xfrm>
          <a:prstGeom prst="rect">
            <a:avLst/>
          </a:prstGeom>
          <a:noFill/>
        </p:spPr>
        <p:txBody>
          <a:bodyPr wrap="none">
            <a:spAutoFit/>
          </a:bodyPr>
          <a:lstStyle/>
          <a:p>
            <a:pPr>
              <a:spcAft>
                <a:spcPts val="1200"/>
              </a:spcAft>
              <a:defRPr sz="1800">
                <a:solidFill>
                  <a:srgbClr val="333333"/>
                </a:solidFill>
              </a:defRPr>
            </a:pPr>
            <a:r>
              <a:t>• AI can improve operational efficiency by automating routine tasks.</a:t>
            </a:r>
          </a:p>
        </p:txBody>
      </p:sp>
      <p:sp>
        <p:nvSpPr>
          <p:cNvPr id="4" name="TextBox 3"/>
          <p:cNvSpPr txBox="1"/>
          <p:nvPr/>
        </p:nvSpPr>
        <p:spPr>
          <a:xfrm>
            <a:off x="731520" y="2194560"/>
            <a:ext cx="7772400" cy="457200"/>
          </a:xfrm>
          <a:prstGeom prst="rect">
            <a:avLst/>
          </a:prstGeom>
          <a:noFill/>
        </p:spPr>
        <p:txBody>
          <a:bodyPr wrap="none">
            <a:spAutoFit/>
          </a:bodyPr>
          <a:lstStyle/>
          <a:p>
            <a:pPr>
              <a:spcAft>
                <a:spcPts val="1200"/>
              </a:spcAft>
              <a:defRPr sz="1800">
                <a:solidFill>
                  <a:srgbClr val="333333"/>
                </a:solidFill>
              </a:defRPr>
            </a:pPr>
            <a:r>
              <a:t>• It enhances customer experience through personalized recommendations and quicker response times.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731520"/>
          </a:xfrm>
          <a:prstGeom prst="rect">
            <a:avLst/>
          </a:prstGeom>
          <a:noFill/>
        </p:spPr>
        <p:txBody>
          <a:bodyPr wrap="none">
            <a:spAutoFit/>
          </a:bodyPr>
          <a:lstStyle/>
          <a:p>
            <a:pPr>
              <a:defRPr sz="3200" b="1">
                <a:solidFill>
                  <a:srgbClr val="003366"/>
                </a:solidFill>
              </a:defRPr>
            </a:pPr>
            <a:r>
              <a:t>4. Challenges of AI Implementation</a:t>
            </a:r>
          </a:p>
        </p:txBody>
      </p:sp>
      <p:sp>
        <p:nvSpPr>
          <p:cNvPr id="3" name="TextBox 2"/>
          <p:cNvSpPr txBox="1"/>
          <p:nvPr/>
        </p:nvSpPr>
        <p:spPr>
          <a:xfrm>
            <a:off x="731520" y="1645920"/>
            <a:ext cx="7772400" cy="457200"/>
          </a:xfrm>
          <a:prstGeom prst="rect">
            <a:avLst/>
          </a:prstGeom>
          <a:noFill/>
        </p:spPr>
        <p:txBody>
          <a:bodyPr wrap="none">
            <a:spAutoFit/>
          </a:bodyPr>
          <a:lstStyle/>
          <a:p>
            <a:pPr>
              <a:spcAft>
                <a:spcPts val="1200"/>
              </a:spcAft>
              <a:defRPr sz="1800">
                <a:solidFill>
                  <a:srgbClr val="333333"/>
                </a:solidFill>
              </a:defRPr>
            </a:pPr>
            <a:r>
              <a:t>• AI systems require large datasets to learn effectively. Without sufficient data, the accuracy of predictions can be compromised.</a:t>
            </a:r>
          </a:p>
        </p:txBody>
      </p:sp>
      <p:sp>
        <p:nvSpPr>
          <p:cNvPr id="4" name="TextBox 3"/>
          <p:cNvSpPr txBox="1"/>
          <p:nvPr/>
        </p:nvSpPr>
        <p:spPr>
          <a:xfrm>
            <a:off x="731520" y="2194560"/>
            <a:ext cx="7772400" cy="457200"/>
          </a:xfrm>
          <a:prstGeom prst="rect">
            <a:avLst/>
          </a:prstGeom>
          <a:noFill/>
        </p:spPr>
        <p:txBody>
          <a:bodyPr wrap="none">
            <a:spAutoFit/>
          </a:bodyPr>
          <a:lstStyle/>
          <a:p>
            <a:pPr>
              <a:spcAft>
                <a:spcPts val="1200"/>
              </a:spcAft>
              <a:defRPr sz="1800">
                <a:solidFill>
                  <a:srgbClr val="333333"/>
                </a:solidFill>
              </a:defRPr>
            </a:pPr>
            <a:r>
              <a:t>• Ethical concerns surrounding bias in decision-making algorithms and potential job displacement.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731520"/>
          </a:xfrm>
          <a:prstGeom prst="rect">
            <a:avLst/>
          </a:prstGeom>
          <a:noFill/>
        </p:spPr>
        <p:txBody>
          <a:bodyPr wrap="none">
            <a:spAutoFit/>
          </a:bodyPr>
          <a:lstStyle/>
          <a:p>
            <a:pPr>
              <a:defRPr sz="3200" b="1">
                <a:solidFill>
                  <a:srgbClr val="003366"/>
                </a:solidFill>
              </a:defRPr>
            </a:pPr>
            <a:r>
              <a:t>5. Conclusion: Embracing AI for a Competitive Advantage</a:t>
            </a:r>
          </a:p>
        </p:txBody>
      </p:sp>
      <p:sp>
        <p:nvSpPr>
          <p:cNvPr id="3" name="TextBox 2"/>
          <p:cNvSpPr txBox="1"/>
          <p:nvPr/>
        </p:nvSpPr>
        <p:spPr>
          <a:xfrm>
            <a:off x="731520" y="1645920"/>
            <a:ext cx="7772400" cy="457200"/>
          </a:xfrm>
          <a:prstGeom prst="rect">
            <a:avLst/>
          </a:prstGeom>
          <a:noFill/>
        </p:spPr>
        <p:txBody>
          <a:bodyPr wrap="none">
            <a:spAutoFit/>
          </a:bodyPr>
          <a:lstStyle/>
          <a:p>
            <a:pPr>
              <a:spcAft>
                <a:spcPts val="1200"/>
              </a:spcAft>
              <a:defRPr sz="1800">
                <a:solidFill>
                  <a:srgbClr val="333333"/>
                </a:solidFill>
              </a:defRPr>
            </a:pPr>
            <a:r>
              <a:t>• Businesses can gain a significant competitive edge by adopting AI technologies.</a:t>
            </a:r>
          </a:p>
        </p:txBody>
      </p:sp>
      <p:sp>
        <p:nvSpPr>
          <p:cNvPr id="4" name="TextBox 3"/>
          <p:cNvSpPr txBox="1"/>
          <p:nvPr/>
        </p:nvSpPr>
        <p:spPr>
          <a:xfrm>
            <a:off x="731520" y="2194560"/>
            <a:ext cx="7772400" cy="457200"/>
          </a:xfrm>
          <a:prstGeom prst="rect">
            <a:avLst/>
          </a:prstGeom>
          <a:noFill/>
        </p:spPr>
        <p:txBody>
          <a:bodyPr wrap="none">
            <a:spAutoFit/>
          </a:bodyPr>
          <a:lstStyle/>
          <a:p>
            <a:pPr>
              <a:spcAft>
                <a:spcPts val="1200"/>
              </a:spcAft>
              <a:defRPr sz="1800">
                <a:solidFill>
                  <a:srgbClr val="333333"/>
                </a:solidFill>
              </a:defRPr>
            </a:pPr>
            <a:r>
              <a:t>• However, organizations must approach AI implementation with careful consideration of its ethical implications and potential challenges.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