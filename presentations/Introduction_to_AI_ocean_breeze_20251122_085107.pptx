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06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07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086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086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097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0A7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0B8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0B8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0C9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0D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17320" y="1874520"/>
            <a:ext cx="6400800" cy="32004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600" b="1">
                <a:solidFill>
                  <a:srgbClr val="0F172A"/>
                </a:solidFill>
                <a:latin typeface="Segoe UI"/>
              </a:defRPr>
            </a:pPr>
            <a:r>
              <a:t>Introduction to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34155"/>
                </a:solidFill>
                <a:latin typeface="Segoe UI"/>
              </a:defRPr>
            </a:pPr>
            <a:r>
              <a:t>This presentation provides a comprehensive introduction to Artificial Intelligence, covering its definition, history, applications, types, and future trends. It is designed to be informative and engaging for a professional audience.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06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07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086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086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097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0A7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0B8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0B8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0C9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0D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17320" y="96012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91440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0F172A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7432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Welcome to our presentation on AI</a:t>
            </a:r>
          </a:p>
          <a:p>
            <a:pPr>
              <a:spcAft>
                <a:spcPts val="18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Understanding the basics and implications of AI</a:t>
            </a:r>
          </a:p>
          <a:p>
            <a:pPr>
              <a:spcAft>
                <a:spcPts val="18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Designed for professionals and enthusiasts alike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00000">
            <a:off x="-1828800" y="0"/>
            <a:ext cx="2743200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0">
            <a:off x="-1188720" y="0"/>
            <a:ext cx="2743200" cy="6858000"/>
          </a:xfrm>
          <a:prstGeom prst="rect">
            <a:avLst/>
          </a:prstGeom>
          <a:solidFill>
            <a:srgbClr val="065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-548640" y="0"/>
            <a:ext cx="2743200" cy="6858000"/>
          </a:xfrm>
          <a:prstGeom prst="rect">
            <a:avLst/>
          </a:prstGeom>
          <a:solidFill>
            <a:srgbClr val="075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00000">
            <a:off x="91439" y="0"/>
            <a:ext cx="2743200" cy="6858000"/>
          </a:xfrm>
          <a:prstGeom prst="rect">
            <a:avLst/>
          </a:prstGeom>
          <a:solidFill>
            <a:srgbClr val="07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731519" y="0"/>
            <a:ext cx="2743200" cy="6858000"/>
          </a:xfrm>
          <a:prstGeom prst="rect">
            <a:avLst/>
          </a:prstGeom>
          <a:solidFill>
            <a:srgbClr val="086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00000">
            <a:off x="1371600" y="0"/>
            <a:ext cx="2743200" cy="6858000"/>
          </a:xfrm>
          <a:prstGeom prst="rect">
            <a:avLst/>
          </a:prstGeom>
          <a:solidFill>
            <a:srgbClr val="086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800000">
            <a:off x="2011679" y="0"/>
            <a:ext cx="2743200" cy="6858000"/>
          </a:xfrm>
          <a:prstGeom prst="rect">
            <a:avLst/>
          </a:prstGeom>
          <a:solidFill>
            <a:srgbClr val="09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00000">
            <a:off x="2651759" y="0"/>
            <a:ext cx="2743200" cy="6858000"/>
          </a:xfrm>
          <a:prstGeom prst="rect">
            <a:avLst/>
          </a:prstGeom>
          <a:solidFill>
            <a:srgbClr val="0A7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3291839" y="0"/>
            <a:ext cx="2743200" cy="6858000"/>
          </a:xfrm>
          <a:prstGeom prst="rect">
            <a:avLst/>
          </a:prstGeom>
          <a:solidFill>
            <a:srgbClr val="0A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800000">
            <a:off x="3931920" y="0"/>
            <a:ext cx="2743200" cy="6858000"/>
          </a:xfrm>
          <a:prstGeom prst="rect">
            <a:avLst/>
          </a:prstGeom>
          <a:solidFill>
            <a:srgbClr val="0B8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800000">
            <a:off x="4572000" y="0"/>
            <a:ext cx="2743200" cy="6858000"/>
          </a:xfrm>
          <a:prstGeom prst="rect">
            <a:avLst/>
          </a:prstGeom>
          <a:solidFill>
            <a:srgbClr val="0B8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">
            <a:off x="5212079" y="0"/>
            <a:ext cx="2743200" cy="6858000"/>
          </a:xfrm>
          <a:prstGeom prst="rect">
            <a:avLst/>
          </a:prstGeom>
          <a:solidFill>
            <a:srgbClr val="0C92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800000">
            <a:off x="5852159" y="0"/>
            <a:ext cx="2743200" cy="6858000"/>
          </a:xfrm>
          <a:prstGeom prst="rect">
            <a:avLst/>
          </a:prstGeom>
          <a:solidFill>
            <a:srgbClr val="0C9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800000">
            <a:off x="6492240" y="0"/>
            <a:ext cx="2743200" cy="6858000"/>
          </a:xfrm>
          <a:prstGeom prst="rect">
            <a:avLst/>
          </a:prstGeom>
          <a:solidFill>
            <a:srgbClr val="0D9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1800000">
            <a:off x="7132319" y="0"/>
            <a:ext cx="27432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" y="1280160"/>
            <a:ext cx="3383280" cy="429768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rtificial_Intelligence_diag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200400" cy="41148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160520" y="960120"/>
            <a:ext cx="45720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0" y="914400"/>
            <a:ext cx="45720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F172A"/>
                </a:solidFill>
                <a:latin typeface="Segoe UI"/>
              </a:defRPr>
            </a:pPr>
            <a:r>
              <a:t>What is Artificial Intelligence?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560320"/>
            <a:ext cx="3657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6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• Simulation of human intelligence in machines</a:t>
            </a:r>
          </a:p>
          <a:p>
            <a:pPr>
              <a:spcAft>
                <a:spcPts val="16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• Capabilities: learning, reasoning, problem-solving</a:t>
            </a:r>
          </a:p>
          <a:p>
            <a:pPr>
              <a:spcAft>
                <a:spcPts val="16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• Subfields: machine learning, natural language processing, robotics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meline_of_Artificial_Intell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4572000"/>
            <a:ext cx="7315200" cy="1828800"/>
          </a:xfrm>
          <a:prstGeom prst="roundRect">
            <a:avLst>
              <a:gd name="adj" fmla="val 8000"/>
            </a:avLst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A Brief History of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06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07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086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086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097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0A7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0B8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0B8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0C9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0D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6B6D4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06B6D4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3657600"/>
            <a:ext cx="2286000" cy="2286000"/>
          </a:xfrm>
          <a:prstGeom prst="ellipse">
            <a:avLst/>
          </a:prstGeom>
          <a:solidFill>
            <a:srgbClr val="06B6D4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pplications_of_Artificial_I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754880" y="914400"/>
            <a:ext cx="41148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F172A"/>
                </a:solidFill>
                <a:latin typeface="Segoe UI"/>
              </a:defRPr>
            </a:pPr>
            <a:r>
              <a:t>Types and Applications of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560320"/>
            <a:ext cx="3657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Types: Narrow AI, General AI, Superintelligent AI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Applications: Healthcare, Finance, Autonomous Vehicles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• AI in business: automation, decision-making, customer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2700000">
            <a:off x="-1828800" y="1828800"/>
            <a:ext cx="5486400" cy="2743200"/>
          </a:xfrm>
          <a:prstGeom prst="ellipse">
            <a:avLst/>
          </a:prstGeom>
          <a:solidFill>
            <a:srgbClr val="0EA5E9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700000">
            <a:off x="914400" y="3200400"/>
            <a:ext cx="5486400" cy="2743200"/>
          </a:xfrm>
          <a:prstGeom prst="ellipse">
            <a:avLst/>
          </a:prstGeom>
          <a:solidFill>
            <a:srgbClr val="0EA5E9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2700000">
            <a:off x="3657600" y="4572000"/>
            <a:ext cx="5486400" cy="2743200"/>
          </a:xfrm>
          <a:prstGeom prst="ellipse">
            <a:avLst/>
          </a:prstGeom>
          <a:solidFill>
            <a:srgbClr val="0EA5E9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2700000">
            <a:off x="6400800" y="5943600"/>
            <a:ext cx="5486400" cy="2743200"/>
          </a:xfrm>
          <a:prstGeom prst="ellipse">
            <a:avLst/>
          </a:prstGeom>
          <a:solidFill>
            <a:srgbClr val="0EA5E9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96012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91440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0F172A"/>
                </a:solidFill>
                <a:latin typeface="Segoe UI"/>
              </a:defRPr>
            </a:pPr>
            <a:r>
              <a:t>Conclusion and Future of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432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AI is transforming industries and societies</a:t>
            </a:r>
          </a:p>
          <a:p>
            <a:pPr>
              <a:spcAft>
                <a:spcPts val="18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Future trends: AI ethics, explainability, and integration</a:t>
            </a:r>
          </a:p>
          <a:p>
            <a:pPr>
              <a:spcAft>
                <a:spcPts val="18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Continuous learning and adaptation are key</a:t>
            </a:r>
          </a:p>
          <a:p>
            <a:pPr>
              <a:spcAft>
                <a:spcPts val="18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