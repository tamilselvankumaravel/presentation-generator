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ATA_Motors__Driving_Innovatio.jpg"/>
          <p:cNvPicPr>
            <a:picLocks noChangeAspect="1"/>
          </p:cNvPicPr>
          <p:nvPr/>
        </p:nvPicPr>
        <p:blipFill>
          <a:blip r:embed="rId2"/>
          <a:stretch>
            <a:fillRect/>
          </a:stretch>
        </p:blipFill>
        <p:spPr>
          <a:xfrm>
            <a:off x="4572000" y="457200"/>
            <a:ext cx="4114800" cy="5943600"/>
          </a:xfrm>
          <a:prstGeom prst="rect">
            <a:avLst/>
          </a:prstGeom>
        </p:spPr>
      </p:pic>
      <p:sp>
        <p:nvSpPr>
          <p:cNvPr id="4" name="TextBox 3"/>
          <p:cNvSpPr txBox="1"/>
          <p:nvPr/>
        </p:nvSpPr>
        <p:spPr>
          <a:xfrm>
            <a:off x="731520" y="914400"/>
            <a:ext cx="4114800" cy="2286000"/>
          </a:xfrm>
          <a:prstGeom prst="rect">
            <a:avLst/>
          </a:prstGeom>
          <a:noFill/>
        </p:spPr>
        <p:txBody>
          <a:bodyPr wrap="square" anchor="t">
            <a:spAutoFit/>
          </a:bodyPr>
          <a:lstStyle/>
          <a:p>
            <a:pPr algn="l">
              <a:lnSpc>
                <a:spcPct val="110000"/>
              </a:lnSpc>
              <a:defRPr sz="4200" b="1">
                <a:solidFill>
                  <a:srgbClr val="0A5C8C"/>
                </a:solidFill>
                <a:latin typeface="Segoe UI"/>
              </a:defRPr>
            </a:pPr>
            <a:r>
              <a:t>TATA Motors: Driving Innovation and Excellence</a:t>
            </a:r>
          </a:p>
        </p:txBody>
      </p:sp>
      <p:sp>
        <p:nvSpPr>
          <p:cNvPr id="5" name="TextBox 4"/>
          <p:cNvSpPr txBox="1"/>
          <p:nvPr/>
        </p:nvSpPr>
        <p:spPr>
          <a:xfrm>
            <a:off x="731520" y="4114800"/>
            <a:ext cx="4114800" cy="1828800"/>
          </a:xfrm>
          <a:prstGeom prst="rect">
            <a:avLst/>
          </a:prstGeom>
          <a:noFill/>
        </p:spPr>
        <p:txBody>
          <a:bodyPr wrap="square" anchor="t">
            <a:spAutoFit/>
          </a:bodyPr>
          <a:lstStyle/>
          <a:p>
            <a:pPr algn="l">
              <a:lnSpc>
                <a:spcPct val="140000"/>
              </a:lnSpc>
              <a:defRPr sz="1600">
                <a:solidFill>
                  <a:srgbClr val="0A5C8C"/>
                </a:solidFill>
                <a:latin typeface="Segoe UI"/>
              </a:defRPr>
            </a:pPr>
            <a:r>
              <a:t>This presentation provides an overview of TATA Motors, its history, current trends, future predictions, and the benefits of its innovations. Join us as we explore the journey and impact of this leading automotive manufacturer.</a:t>
            </a:r>
          </a:p>
        </p:txBody>
      </p:sp>
      <p:sp>
        <p:nvSpPr>
          <p:cNvPr id="6" name="TextBox 5"/>
          <p:cNvSpPr txBox="1"/>
          <p:nvPr/>
        </p:nvSpPr>
        <p:spPr>
          <a:xfrm>
            <a:off x="731520" y="6217920"/>
            <a:ext cx="4114800" cy="457200"/>
          </a:xfrm>
          <a:prstGeom prst="rect">
            <a:avLst/>
          </a:prstGeom>
          <a:noFill/>
        </p:spPr>
        <p:txBody>
          <a:bodyPr wrap="none">
            <a:spAutoFit/>
          </a:bodyPr>
          <a:lstStyle/>
          <a:p>
            <a:pPr algn="l">
              <a:defRPr sz="1300">
                <a:solidFill>
                  <a:srgbClr val="6B7280"/>
                </a:solidFill>
                <a:latin typeface="Segoe UI"/>
              </a:defRPr>
            </a:pPr>
            <a:r>
              <a:t>by AI Research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914400"/>
          </a:xfrm>
          <a:prstGeom prst="rect">
            <a:avLst/>
          </a:prstGeom>
          <a:noFill/>
        </p:spPr>
        <p:txBody>
          <a:bodyPr wrap="none">
            <a:spAutoFit/>
          </a:bodyPr>
          <a:lstStyle/>
          <a:p>
            <a:pPr algn="l">
              <a:defRPr sz="3800" b="1">
                <a:solidFill>
                  <a:srgbClr val="0A5C8C"/>
                </a:solidFill>
                <a:latin typeface="Segoe UI"/>
              </a:defRPr>
            </a:pPr>
            <a:r>
              <a:t>TATA Motors: Driving Innovation and Excellence</a:t>
            </a:r>
          </a:p>
        </p:txBody>
      </p:sp>
      <p:sp>
        <p:nvSpPr>
          <p:cNvPr id="4" name="Rounded Rectangle 3"/>
          <p:cNvSpPr/>
          <p:nvPr/>
        </p:nvSpPr>
        <p:spPr>
          <a:xfrm>
            <a:off x="1371600" y="228600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468880"/>
            <a:ext cx="5486400" cy="548640"/>
          </a:xfrm>
          <a:prstGeom prst="rect">
            <a:avLst/>
          </a:prstGeom>
          <a:noFill/>
        </p:spPr>
        <p:txBody>
          <a:bodyPr wrap="none">
            <a:spAutoFit/>
          </a:bodyPr>
          <a:lstStyle/>
          <a:p>
            <a:pPr>
              <a:defRPr sz="1600">
                <a:solidFill>
                  <a:srgbClr val="0A5C8C"/>
                </a:solidFill>
                <a:latin typeface="Segoe UI"/>
              </a:defRPr>
            </a:pPr>
            <a:r>
              <a:t>• A global automotive manufacturer headquartered in India</a:t>
            </a:r>
          </a:p>
        </p:txBody>
      </p:sp>
      <p:sp>
        <p:nvSpPr>
          <p:cNvPr id="6" name="Rounded Rectangle 5"/>
          <p:cNvSpPr/>
          <p:nvPr/>
        </p:nvSpPr>
        <p:spPr>
          <a:xfrm>
            <a:off x="1371600" y="338328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3566160"/>
            <a:ext cx="5486400" cy="548640"/>
          </a:xfrm>
          <a:prstGeom prst="rect">
            <a:avLst/>
          </a:prstGeom>
          <a:noFill/>
        </p:spPr>
        <p:txBody>
          <a:bodyPr wrap="none">
            <a:spAutoFit/>
          </a:bodyPr>
          <a:lstStyle/>
          <a:p>
            <a:pPr>
              <a:defRPr sz="1600">
                <a:solidFill>
                  <a:srgbClr val="0A5C8C"/>
                </a:solidFill>
                <a:latin typeface="Segoe UI"/>
              </a:defRPr>
            </a:pPr>
            <a:r>
              <a:t>• Part of the Tata Group, one of India's largest conglomerates</a:t>
            </a:r>
          </a:p>
        </p:txBody>
      </p:sp>
      <p:sp>
        <p:nvSpPr>
          <p:cNvPr id="8" name="Rounded Rectangle 7"/>
          <p:cNvSpPr/>
          <p:nvPr/>
        </p:nvSpPr>
        <p:spPr>
          <a:xfrm>
            <a:off x="1371600" y="448056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4663440"/>
            <a:ext cx="5486400" cy="548640"/>
          </a:xfrm>
          <a:prstGeom prst="rect">
            <a:avLst/>
          </a:prstGeom>
          <a:noFill/>
        </p:spPr>
        <p:txBody>
          <a:bodyPr wrap="none">
            <a:spAutoFit/>
          </a:bodyPr>
          <a:lstStyle/>
          <a:p>
            <a:pPr>
              <a:defRPr sz="1600">
                <a:solidFill>
                  <a:srgbClr val="0A5C8C"/>
                </a:solidFill>
                <a:latin typeface="Segoe UI"/>
              </a:defRPr>
            </a:pPr>
            <a:r>
              <a:t>• Known for innovation, quality, and sustainability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600" b="1">
                <a:solidFill>
                  <a:srgbClr val="0A5C8C"/>
                </a:solidFill>
                <a:latin typeface="Segoe UI"/>
              </a:defRPr>
            </a:pPr>
            <a:r>
              <a:t>History and Milestones</a:t>
            </a:r>
          </a:p>
        </p:txBody>
      </p:sp>
      <p:sp>
        <p:nvSpPr>
          <p:cNvPr id="4" name="Rounded Rectangle 3"/>
          <p:cNvSpPr/>
          <p:nvPr/>
        </p:nvSpPr>
        <p:spPr>
          <a:xfrm>
            <a:off x="731520" y="18288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57400"/>
            <a:ext cx="3200400" cy="731520"/>
          </a:xfrm>
          <a:prstGeom prst="rect">
            <a:avLst/>
          </a:prstGeom>
          <a:noFill/>
        </p:spPr>
        <p:txBody>
          <a:bodyPr wrap="square">
            <a:spAutoFit/>
          </a:bodyPr>
          <a:lstStyle/>
          <a:p>
            <a:pPr>
              <a:defRPr sz="1400">
                <a:solidFill>
                  <a:srgbClr val="0A5C8C"/>
                </a:solidFill>
                <a:latin typeface="Segoe UI"/>
              </a:defRPr>
            </a:pPr>
            <a:r>
              <a:t>Founded in 1945 as Tata Locomotive &amp; Engineering Company</a:t>
            </a:r>
          </a:p>
        </p:txBody>
      </p:sp>
      <p:sp>
        <p:nvSpPr>
          <p:cNvPr id="6" name="Rounded Rectangle 5"/>
          <p:cNvSpPr/>
          <p:nvPr/>
        </p:nvSpPr>
        <p:spPr>
          <a:xfrm>
            <a:off x="731520" y="32004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29000"/>
            <a:ext cx="3200400" cy="731520"/>
          </a:xfrm>
          <a:prstGeom prst="rect">
            <a:avLst/>
          </a:prstGeom>
          <a:noFill/>
        </p:spPr>
        <p:txBody>
          <a:bodyPr wrap="square">
            <a:spAutoFit/>
          </a:bodyPr>
          <a:lstStyle/>
          <a:p>
            <a:pPr>
              <a:defRPr sz="1400">
                <a:solidFill>
                  <a:srgbClr val="0A5C8C"/>
                </a:solidFill>
                <a:latin typeface="Segoe UI"/>
              </a:defRPr>
            </a:pPr>
            <a:r>
              <a:t>Launched India's first indigenously developed passenger car, the Tata Indica, in 1998</a:t>
            </a:r>
          </a:p>
        </p:txBody>
      </p:sp>
      <p:sp>
        <p:nvSpPr>
          <p:cNvPr id="8" name="Rounded Rectangle 7"/>
          <p:cNvSpPr/>
          <p:nvPr/>
        </p:nvSpPr>
        <p:spPr>
          <a:xfrm>
            <a:off x="731520" y="45720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00600"/>
            <a:ext cx="3200400" cy="731520"/>
          </a:xfrm>
          <a:prstGeom prst="rect">
            <a:avLst/>
          </a:prstGeom>
          <a:noFill/>
        </p:spPr>
        <p:txBody>
          <a:bodyPr wrap="square">
            <a:spAutoFit/>
          </a:bodyPr>
          <a:lstStyle/>
          <a:p>
            <a:pPr>
              <a:defRPr sz="1400">
                <a:solidFill>
                  <a:srgbClr val="0A5C8C"/>
                </a:solidFill>
                <a:latin typeface="Segoe UI"/>
              </a:defRPr>
            </a:pPr>
            <a:r>
              <a:t>Acquired Jaguar Land Rover in 2008, expanding its global footprint</a:t>
            </a:r>
          </a:p>
        </p:txBody>
      </p:sp>
      <p:pic>
        <p:nvPicPr>
          <p:cNvPr id="10" name="Picture 9" descr="tata_motors_history_milestones.jpg"/>
          <p:cNvPicPr>
            <a:picLocks noChangeAspect="1"/>
          </p:cNvPicPr>
          <p:nvPr/>
        </p:nvPicPr>
        <p:blipFill>
          <a:blip r:embed="rId2"/>
          <a:stretch>
            <a:fillRect/>
          </a:stretch>
        </p:blipFill>
        <p:spPr>
          <a:xfrm>
            <a:off x="5029200" y="1828800"/>
            <a:ext cx="347472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ctr">
              <a:defRPr sz="3600" b="1">
                <a:solidFill>
                  <a:srgbClr val="0A5C8C"/>
                </a:solidFill>
                <a:latin typeface="Segoe UI"/>
              </a:defRPr>
            </a:pPr>
            <a:r>
              <a:t>Current Trends and Innovations</a:t>
            </a:r>
          </a:p>
        </p:txBody>
      </p:sp>
      <p:sp>
        <p:nvSpPr>
          <p:cNvPr id="4" name="Rounded Rectangle 3"/>
          <p:cNvSpPr/>
          <p:nvPr/>
        </p:nvSpPr>
        <p:spPr>
          <a:xfrm>
            <a:off x="73152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548640" cy="548640"/>
          </a:xfrm>
          <a:prstGeom prst="rect">
            <a:avLst/>
          </a:prstGeom>
          <a:noFill/>
        </p:spPr>
        <p:txBody>
          <a:bodyPr wrap="none">
            <a:spAutoFit/>
          </a:bodyPr>
          <a:lstStyle/>
          <a:p>
            <a:pPr algn="l">
              <a:defRPr sz="2400" b="1">
                <a:solidFill>
                  <a:srgbClr val="3B82F6"/>
                </a:solidFill>
                <a:latin typeface="Segoe UI"/>
              </a:defRPr>
            </a:pPr>
            <a:r>
              <a:t>S</a:t>
            </a:r>
          </a:p>
        </p:txBody>
      </p:sp>
      <p:sp>
        <p:nvSpPr>
          <p:cNvPr id="6" name="TextBox 5"/>
          <p:cNvSpPr txBox="1"/>
          <p:nvPr/>
        </p:nvSpPr>
        <p:spPr>
          <a:xfrm>
            <a:off x="1005840" y="2377440"/>
            <a:ext cx="3108960" cy="1280160"/>
          </a:xfrm>
          <a:prstGeom prst="rect">
            <a:avLst/>
          </a:prstGeom>
          <a:noFill/>
        </p:spPr>
        <p:txBody>
          <a:bodyPr wrap="square">
            <a:spAutoFit/>
          </a:bodyPr>
          <a:lstStyle/>
          <a:p>
            <a:pPr>
              <a:lnSpc>
                <a:spcPct val="120000"/>
              </a:lnSpc>
              <a:defRPr sz="1200">
                <a:solidFill>
                  <a:srgbClr val="0A5C8C"/>
                </a:solidFill>
                <a:latin typeface="Segoe UI"/>
              </a:defRPr>
            </a:pPr>
            <a:r>
              <a:t>Focus on electric and hybrid vehicles to reduce carbon footprint</a:t>
            </a:r>
          </a:p>
        </p:txBody>
      </p:sp>
      <p:sp>
        <p:nvSpPr>
          <p:cNvPr id="7" name="Rounded Rectangle 6"/>
          <p:cNvSpPr/>
          <p:nvPr/>
        </p:nvSpPr>
        <p:spPr>
          <a:xfrm>
            <a:off x="466344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920240"/>
            <a:ext cx="548640" cy="548640"/>
          </a:xfrm>
          <a:prstGeom prst="rect">
            <a:avLst/>
          </a:prstGeom>
          <a:noFill/>
        </p:spPr>
        <p:txBody>
          <a:bodyPr wrap="none">
            <a:spAutoFit/>
          </a:bodyPr>
          <a:lstStyle/>
          <a:p>
            <a:pPr algn="l">
              <a:defRPr sz="2400" b="1">
                <a:solidFill>
                  <a:srgbClr val="3B82F6"/>
                </a:solidFill>
                <a:latin typeface="Segoe UI"/>
              </a:defRPr>
            </a:pPr>
            <a:r>
              <a:t>W</a:t>
            </a:r>
          </a:p>
        </p:txBody>
      </p:sp>
      <p:sp>
        <p:nvSpPr>
          <p:cNvPr id="9" name="TextBox 8"/>
          <p:cNvSpPr txBox="1"/>
          <p:nvPr/>
        </p:nvSpPr>
        <p:spPr>
          <a:xfrm>
            <a:off x="4937759" y="2377440"/>
            <a:ext cx="3108960" cy="1280160"/>
          </a:xfrm>
          <a:prstGeom prst="rect">
            <a:avLst/>
          </a:prstGeom>
          <a:noFill/>
        </p:spPr>
        <p:txBody>
          <a:bodyPr wrap="square">
            <a:spAutoFit/>
          </a:bodyPr>
          <a:lstStyle/>
          <a:p>
            <a:pPr>
              <a:lnSpc>
                <a:spcPct val="120000"/>
              </a:lnSpc>
              <a:defRPr sz="1200">
                <a:solidFill>
                  <a:srgbClr val="0A5C8C"/>
                </a:solidFill>
                <a:latin typeface="Segoe UI"/>
              </a:defRPr>
            </a:pPr>
            <a:r>
              <a:t>Investment in autonomous driving technology</a:t>
            </a:r>
          </a:p>
        </p:txBody>
      </p:sp>
      <p:sp>
        <p:nvSpPr>
          <p:cNvPr id="10" name="Rounded Rectangle 9"/>
          <p:cNvSpPr/>
          <p:nvPr/>
        </p:nvSpPr>
        <p:spPr>
          <a:xfrm>
            <a:off x="731520" y="4114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06240"/>
            <a:ext cx="548640" cy="548640"/>
          </a:xfrm>
          <a:prstGeom prst="rect">
            <a:avLst/>
          </a:prstGeom>
          <a:noFill/>
        </p:spPr>
        <p:txBody>
          <a:bodyPr wrap="none">
            <a:spAutoFit/>
          </a:bodyPr>
          <a:lstStyle/>
          <a:p>
            <a:pPr algn="l">
              <a:defRPr sz="2400" b="1">
                <a:solidFill>
                  <a:srgbClr val="3B82F6"/>
                </a:solidFill>
                <a:latin typeface="Segoe UI"/>
              </a:defRPr>
            </a:pPr>
            <a:r>
              <a:t>T</a:t>
            </a:r>
          </a:p>
        </p:txBody>
      </p:sp>
      <p:sp>
        <p:nvSpPr>
          <p:cNvPr id="12" name="TextBox 11"/>
          <p:cNvSpPr txBox="1"/>
          <p:nvPr/>
        </p:nvSpPr>
        <p:spPr>
          <a:xfrm>
            <a:off x="1005840" y="4663440"/>
            <a:ext cx="3108960" cy="1280160"/>
          </a:xfrm>
          <a:prstGeom prst="rect">
            <a:avLst/>
          </a:prstGeom>
          <a:noFill/>
        </p:spPr>
        <p:txBody>
          <a:bodyPr wrap="square">
            <a:spAutoFit/>
          </a:bodyPr>
          <a:lstStyle/>
          <a:p>
            <a:pPr>
              <a:lnSpc>
                <a:spcPct val="120000"/>
              </a:lnSpc>
              <a:defRPr sz="1200">
                <a:solidFill>
                  <a:srgbClr val="0A5C8C"/>
                </a:solidFill>
                <a:latin typeface="Segoe UI"/>
              </a:defRPr>
            </a:pPr>
            <a:r>
              <a:t>Expansion of connected car features and IoT integration</a:t>
            </a:r>
          </a:p>
        </p:txBody>
      </p:sp>
      <p:sp>
        <p:nvSpPr>
          <p:cNvPr id="13" name="Rounded Rectangle 12"/>
          <p:cNvSpPr/>
          <p:nvPr/>
        </p:nvSpPr>
        <p:spPr>
          <a:xfrm>
            <a:off x="4663440" y="4114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4206240"/>
            <a:ext cx="548640" cy="548640"/>
          </a:xfrm>
          <a:prstGeom prst="rect">
            <a:avLst/>
          </a:prstGeom>
          <a:noFill/>
        </p:spPr>
        <p:txBody>
          <a:bodyPr wrap="none">
            <a:spAutoFit/>
          </a:bodyPr>
          <a:lstStyle/>
          <a:p>
            <a:pPr algn="l">
              <a:defRPr sz="2400" b="1">
                <a:solidFill>
                  <a:srgbClr val="3B82F6"/>
                </a:solidFill>
                <a:latin typeface="Segoe UI"/>
              </a:defRPr>
            </a:pPr>
            <a:r>
              <a:t>O</a:t>
            </a:r>
          </a:p>
        </p:txBody>
      </p:sp>
      <p:sp>
        <p:nvSpPr>
          <p:cNvPr id="15" name="TextBox 14"/>
          <p:cNvSpPr txBox="1"/>
          <p:nvPr/>
        </p:nvSpPr>
        <p:spPr>
          <a:xfrm>
            <a:off x="4937759" y="4663440"/>
            <a:ext cx="3108960" cy="1280160"/>
          </a:xfrm>
          <a:prstGeom prst="rect">
            <a:avLst/>
          </a:prstGeom>
          <a:noFill/>
        </p:spPr>
        <p:txBody>
          <a:bodyPr wrap="square">
            <a:spAutoFit/>
          </a:bodyPr>
          <a:lstStyle/>
          <a:p>
            <a:pPr>
              <a:lnSpc>
                <a:spcPct val="120000"/>
              </a:lnSpc>
              <a:defRPr sz="1200">
                <a:solidFill>
                  <a:srgbClr val="0A5C8C"/>
                </a:solidFill>
                <a:latin typeface="Segoe UI"/>
              </a:defRPr>
            </a:pPr>
            <a:r>
              <a:t>Development of advanced safety features and smart manufacturing processes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000" b="1">
                <a:solidFill>
                  <a:srgbClr val="0A5C8C"/>
                </a:solidFill>
                <a:latin typeface="Segoe UI"/>
              </a:defRPr>
            </a:pPr>
            <a:r>
              <a:t>Future Predictions and Vision</a:t>
            </a:r>
          </a:p>
        </p:txBody>
      </p:sp>
      <p:sp>
        <p:nvSpPr>
          <p:cNvPr id="4" name="Rounded Rectangle 3"/>
          <p:cNvSpPr/>
          <p:nvPr/>
        </p:nvSpPr>
        <p:spPr>
          <a:xfrm>
            <a:off x="731520" y="164592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3474720" cy="1097280"/>
          </a:xfrm>
          <a:prstGeom prst="rect">
            <a:avLst/>
          </a:prstGeom>
          <a:noFill/>
        </p:spPr>
        <p:txBody>
          <a:bodyPr wrap="square">
            <a:spAutoFit/>
          </a:bodyPr>
          <a:lstStyle/>
          <a:p>
            <a:pPr>
              <a:lnSpc>
                <a:spcPct val="130000"/>
              </a:lnSpc>
              <a:defRPr sz="1600">
                <a:solidFill>
                  <a:srgbClr val="0A5C8C"/>
                </a:solidFill>
                <a:latin typeface="Segoe UI"/>
              </a:defRPr>
            </a:pPr>
            <a:r>
              <a:t>Aim to become a global leader in electric and sustainable mobility</a:t>
            </a:r>
          </a:p>
        </p:txBody>
      </p:sp>
      <p:sp>
        <p:nvSpPr>
          <p:cNvPr id="6" name="Rounded Rectangle 5"/>
          <p:cNvSpPr/>
          <p:nvPr/>
        </p:nvSpPr>
        <p:spPr>
          <a:xfrm>
            <a:off x="731520" y="365760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931920"/>
            <a:ext cx="3474720" cy="1097280"/>
          </a:xfrm>
          <a:prstGeom prst="rect">
            <a:avLst/>
          </a:prstGeom>
          <a:noFill/>
        </p:spPr>
        <p:txBody>
          <a:bodyPr wrap="square">
            <a:spAutoFit/>
          </a:bodyPr>
          <a:lstStyle/>
          <a:p>
            <a:pPr>
              <a:lnSpc>
                <a:spcPct val="130000"/>
              </a:lnSpc>
              <a:defRPr sz="1600">
                <a:solidFill>
                  <a:srgbClr val="0A5C8C"/>
                </a:solidFill>
                <a:latin typeface="Segoe UI"/>
              </a:defRPr>
            </a:pPr>
            <a:r>
              <a:t>Plans to launch multiple electric vehicle models by 2025</a:t>
            </a:r>
          </a:p>
        </p:txBody>
      </p:sp>
      <p:pic>
        <p:nvPicPr>
          <p:cNvPr id="8" name="Picture 7" descr="tata_motars_future_innovations.jpg"/>
          <p:cNvPicPr>
            <a:picLocks noChangeAspect="1"/>
          </p:cNvPicPr>
          <p:nvPr/>
        </p:nvPicPr>
        <p:blipFill>
          <a:blip r:embed="rId2"/>
          <a:stretch>
            <a:fillRect/>
          </a:stretch>
        </p:blipFill>
        <p:spPr>
          <a:xfrm>
            <a:off x="5303520" y="1371600"/>
            <a:ext cx="3200400" cy="2011680"/>
          </a:xfrm>
          <a:prstGeom prst="rect">
            <a:avLst/>
          </a:prstGeom>
        </p:spPr>
      </p:pic>
      <p:pic>
        <p:nvPicPr>
          <p:cNvPr id="9" name="Picture 8" descr="tata_motars_future_innovations.jpg"/>
          <p:cNvPicPr>
            <a:picLocks noChangeAspect="1"/>
          </p:cNvPicPr>
          <p:nvPr/>
        </p:nvPicPr>
        <p:blipFill>
          <a:blip r:embed="rId2"/>
          <a:stretch>
            <a:fillRect/>
          </a:stretch>
        </p:blipFill>
        <p:spPr>
          <a:xfrm>
            <a:off x="5303520" y="3657600"/>
            <a:ext cx="3200400" cy="2011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600" b="1">
                <a:solidFill>
                  <a:srgbClr val="0A5C8C"/>
                </a:solidFill>
                <a:latin typeface="Segoe UI"/>
              </a:defRPr>
            </a:pPr>
            <a:r>
              <a:t>Conclusion</a:t>
            </a:r>
          </a:p>
        </p:txBody>
      </p:sp>
      <p:sp>
        <p:nvSpPr>
          <p:cNvPr id="4" name="Rounded Rectangle 3"/>
          <p:cNvSpPr/>
          <p:nvPr/>
        </p:nvSpPr>
        <p:spPr>
          <a:xfrm>
            <a:off x="731520" y="18288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57400"/>
            <a:ext cx="3200400" cy="731520"/>
          </a:xfrm>
          <a:prstGeom prst="rect">
            <a:avLst/>
          </a:prstGeom>
          <a:noFill/>
        </p:spPr>
        <p:txBody>
          <a:bodyPr wrap="square">
            <a:spAutoFit/>
          </a:bodyPr>
          <a:lstStyle/>
          <a:p>
            <a:pPr>
              <a:defRPr sz="1400">
                <a:solidFill>
                  <a:srgbClr val="0A5C8C"/>
                </a:solidFill>
                <a:latin typeface="Segoe UI"/>
              </a:defRPr>
            </a:pPr>
            <a:r>
              <a:t>TATA Motors continues to drive innovation and excellence in the automotive industry</a:t>
            </a:r>
          </a:p>
        </p:txBody>
      </p:sp>
      <p:sp>
        <p:nvSpPr>
          <p:cNvPr id="6" name="Rounded Rectangle 5"/>
          <p:cNvSpPr/>
          <p:nvPr/>
        </p:nvSpPr>
        <p:spPr>
          <a:xfrm>
            <a:off x="731520" y="32004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29000"/>
            <a:ext cx="3200400" cy="731520"/>
          </a:xfrm>
          <a:prstGeom prst="rect">
            <a:avLst/>
          </a:prstGeom>
          <a:noFill/>
        </p:spPr>
        <p:txBody>
          <a:bodyPr wrap="square">
            <a:spAutoFit/>
          </a:bodyPr>
          <a:lstStyle/>
          <a:p>
            <a:pPr>
              <a:defRPr sz="1400">
                <a:solidFill>
                  <a:srgbClr val="0A5C8C"/>
                </a:solidFill>
                <a:latin typeface="Segoe UI"/>
              </a:defRPr>
            </a:pPr>
            <a:r>
              <a:t>With a strong focus on sustainability and technology, it is well-positioned for future growth</a:t>
            </a:r>
          </a:p>
        </p:txBody>
      </p:sp>
      <p:sp>
        <p:nvSpPr>
          <p:cNvPr id="8" name="Rounded Rectangle 7"/>
          <p:cNvSpPr/>
          <p:nvPr/>
        </p:nvSpPr>
        <p:spPr>
          <a:xfrm>
            <a:off x="731520" y="45720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00600"/>
            <a:ext cx="3200400" cy="731520"/>
          </a:xfrm>
          <a:prstGeom prst="rect">
            <a:avLst/>
          </a:prstGeom>
          <a:noFill/>
        </p:spPr>
        <p:txBody>
          <a:bodyPr wrap="square">
            <a:spAutoFit/>
          </a:bodyPr>
          <a:lstStyle/>
          <a:p>
            <a:pPr>
              <a:defRPr sz="1400">
                <a:solidFill>
                  <a:srgbClr val="0A5C8C"/>
                </a:solidFill>
                <a:latin typeface="Segoe UI"/>
              </a:defRPr>
            </a:pPr>
            <a:r>
              <a:t>Thank you for joining us on this journey through the world of TATA Motors</a:t>
            </a:r>
          </a:p>
        </p:txBody>
      </p:sp>
      <p:pic>
        <p:nvPicPr>
          <p:cNvPr id="10" name="Picture 9" descr="tata_motors_conclusion_summary.jpg"/>
          <p:cNvPicPr>
            <a:picLocks noChangeAspect="1"/>
          </p:cNvPicPr>
          <p:nvPr/>
        </p:nvPicPr>
        <p:blipFill>
          <a:blip r:embed="rId2"/>
          <a:stretch>
            <a:fillRect/>
          </a:stretch>
        </p:blipFill>
        <p:spPr>
          <a:xfrm>
            <a:off x="5029200" y="1828800"/>
            <a:ext cx="347472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