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ntroduction_to_Artificial_In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>
              <a:lumMod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228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90000"/>
              </a:lnSpc>
              <a:defRPr sz="11000" b="1">
                <a:solidFill>
                  <a:srgbClr val="FFFFFF"/>
                </a:solidFill>
                <a:latin typeface="Segoe UI"/>
              </a:defRPr>
            </a:pPr>
            <a:r>
              <a:t>Introduction to Artificial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6400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>
                <a:solidFill>
                  <a:srgbClr val="DCDCDC"/>
                </a:solidFill>
                <a:latin typeface="Segoe UI"/>
              </a:defRPr>
            </a:pPr>
            <a:r>
              <a:t>This presentation provides a comprehensive overview of Artificial Intelligence, its history, applications, and future trends. It is designed to be informative and engaging for a professional audience.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7C2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5800"/>
            <a:ext cx="9144000" cy="777240"/>
          </a:xfrm>
          <a:prstGeom prst="rect">
            <a:avLst/>
          </a:prstGeom>
          <a:solidFill>
            <a:srgbClr val="883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71600"/>
            <a:ext cx="9144000" cy="777240"/>
          </a:xfrm>
          <a:prstGeom prst="rect">
            <a:avLst/>
          </a:prstGeom>
          <a:solidFill>
            <a:srgbClr val="943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2057400"/>
            <a:ext cx="9144000" cy="777240"/>
          </a:xfrm>
          <a:prstGeom prst="rect">
            <a:avLst/>
          </a:prstGeom>
          <a:solidFill>
            <a:srgbClr val="A13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743200"/>
            <a:ext cx="9144000" cy="777240"/>
          </a:xfrm>
          <a:prstGeom prst="rect">
            <a:avLst/>
          </a:prstGeom>
          <a:solidFill>
            <a:srgbClr val="AD3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3429000"/>
            <a:ext cx="9144000" cy="777240"/>
          </a:xfrm>
          <a:prstGeom prst="rect">
            <a:avLst/>
          </a:prstGeom>
          <a:solidFill>
            <a:srgbClr val="BA3C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4114800"/>
            <a:ext cx="9144000" cy="777240"/>
          </a:xfrm>
          <a:prstGeom prst="rect">
            <a:avLst/>
          </a:prstGeom>
          <a:solidFill>
            <a:srgbClr val="C63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4800600"/>
            <a:ext cx="9144000" cy="777240"/>
          </a:xfrm>
          <a:prstGeom prst="rect">
            <a:avLst/>
          </a:prstGeom>
          <a:solidFill>
            <a:srgbClr val="D342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5486400"/>
            <a:ext cx="9144000" cy="777240"/>
          </a:xfrm>
          <a:prstGeom prst="rect">
            <a:avLst/>
          </a:prstGeom>
          <a:solidFill>
            <a:srgbClr val="DF4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172200"/>
            <a:ext cx="9144000" cy="77724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>
              <a:lumMod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90000"/>
              </a:lnSpc>
              <a:defRPr sz="9000" b="1">
                <a:solidFill>
                  <a:srgbClr val="FFFFFF"/>
                </a:solidFill>
                <a:latin typeface="Segoe UI"/>
              </a:defRPr>
            </a:pPr>
            <a:r>
              <a:t>Introduction to Artificial Intelligence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411480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1600"/>
              </a:spcAft>
              <a:defRPr sz="2000">
                <a:solidFill>
                  <a:srgbClr val="F0F0F0"/>
                </a:solidFill>
                <a:latin typeface="Segoe UI"/>
              </a:defRPr>
            </a:pPr>
            <a:r>
              <a:t>• Welcome to our presentation on AI</a:t>
            </a:r>
          </a:p>
          <a:p>
            <a:pPr algn="l">
              <a:lnSpc>
                <a:spcPct val="140000"/>
              </a:lnSpc>
              <a:spcAft>
                <a:spcPts val="1600"/>
              </a:spcAft>
              <a:defRPr sz="2000">
                <a:solidFill>
                  <a:srgbClr val="F0F0F0"/>
                </a:solidFill>
                <a:latin typeface="Segoe UI"/>
              </a:defRPr>
            </a:pPr>
            <a:r>
              <a:t>• We will cover the basics, applications, and future of AI</a:t>
            </a:r>
          </a:p>
          <a:p>
            <a:pPr algn="l">
              <a:lnSpc>
                <a:spcPct val="140000"/>
              </a:lnSpc>
              <a:spcAft>
                <a:spcPts val="1600"/>
              </a:spcAft>
              <a:defRPr sz="2000">
                <a:solidFill>
                  <a:srgbClr val="F0F0F0"/>
                </a:solidFill>
                <a:latin typeface="Segoe UI"/>
              </a:defRPr>
            </a:pPr>
            <a:r>
              <a:t>• Designed for a professional audience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9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rtificial_Intelligence_diagr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457200"/>
            <a:ext cx="3840480" cy="5943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371600"/>
            <a:ext cx="3840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6400" b="1">
                <a:solidFill>
                  <a:srgbClr val="FFFFFF"/>
                </a:solidFill>
                <a:latin typeface="Segoe UI"/>
              </a:defRPr>
            </a:pPr>
            <a:r>
              <a:t>What is Artificial Intelligence?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200400"/>
            <a:ext cx="38404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1600"/>
              </a:spcAft>
              <a:defRPr sz="2000">
                <a:solidFill>
                  <a:srgbClr val="C8C8C8"/>
                </a:solidFill>
                <a:latin typeface="Segoe UI"/>
              </a:defRPr>
            </a:pPr>
            <a:r>
              <a:t>• AI refers to the simulation of human intelligence in machines</a:t>
            </a:r>
          </a:p>
          <a:p>
            <a:pPr algn="l">
              <a:lnSpc>
                <a:spcPct val="130000"/>
              </a:lnSpc>
              <a:spcAft>
                <a:spcPts val="1600"/>
              </a:spcAft>
              <a:defRPr sz="2000">
                <a:solidFill>
                  <a:srgbClr val="C8C8C8"/>
                </a:solidFill>
                <a:latin typeface="Segoe UI"/>
              </a:defRPr>
            </a:pPr>
            <a:r>
              <a:t>• It is a branch of computer science</a:t>
            </a:r>
          </a:p>
          <a:p>
            <a:pPr algn="l">
              <a:lnSpc>
                <a:spcPct val="130000"/>
              </a:lnSpc>
              <a:spcAft>
                <a:spcPts val="1600"/>
              </a:spcAft>
              <a:defRPr sz="2000">
                <a:solidFill>
                  <a:srgbClr val="C8C8C8"/>
                </a:solidFill>
                <a:latin typeface="Segoe UI"/>
              </a:defRPr>
            </a:pPr>
            <a:r>
              <a:t>• AI can be classified into narrow AI and general AI</a:t>
            </a:r>
          </a:p>
          <a:p>
            <a:pPr algn="l">
              <a:lnSpc>
                <a:spcPct val="130000"/>
              </a:lnSpc>
              <a:spcAft>
                <a:spcPts val="1600"/>
              </a:spcAft>
              <a:defRPr sz="2000">
                <a:solidFill>
                  <a:srgbClr val="C8C8C8"/>
                </a:solidFill>
                <a:latin typeface="Segoe UI"/>
              </a:defRPr>
            </a:pPr>
            <a:r>
              <a:t>• Narrow AI is designed for a specific task</a:t>
            </a:r>
          </a:p>
          <a:p>
            <a:pPr algn="l">
              <a:lnSpc>
                <a:spcPct val="130000"/>
              </a:lnSpc>
              <a:spcAft>
                <a:spcPts val="1600"/>
              </a:spcAft>
              <a:defRPr sz="2000">
                <a:solidFill>
                  <a:srgbClr val="C8C8C8"/>
                </a:solidFill>
                <a:latin typeface="Segoe UI"/>
              </a:defRPr>
            </a:pPr>
            <a:r>
              <a:t>• General AI has the ability to perform any intellectual task that a human can do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istory_of_Artificial_Intelli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>
              <a:lumMod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64008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95000"/>
              </a:lnSpc>
              <a:defRPr sz="8000" b="1">
                <a:solidFill>
                  <a:srgbClr val="FFFFFF"/>
                </a:solidFill>
                <a:latin typeface="Segoe UI"/>
              </a:defRPr>
            </a:pPr>
            <a:r>
              <a:t>History of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65760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40000"/>
              </a:lnSpc>
              <a:spcAft>
                <a:spcPts val="1600"/>
              </a:spcAft>
              <a:defRPr sz="2000">
                <a:solidFill>
                  <a:srgbClr val="E6E6E6"/>
                </a:solidFill>
                <a:latin typeface="Segoe UI"/>
              </a:defRPr>
            </a:pPr>
            <a:r>
              <a:t>• The concept of AI dates back to ancient times</a:t>
            </a:r>
          </a:p>
          <a:p>
            <a:pPr algn="ctr">
              <a:lnSpc>
                <a:spcPct val="140000"/>
              </a:lnSpc>
              <a:spcAft>
                <a:spcPts val="1600"/>
              </a:spcAft>
              <a:defRPr sz="2000">
                <a:solidFill>
                  <a:srgbClr val="E6E6E6"/>
                </a:solidFill>
                <a:latin typeface="Segoe UI"/>
              </a:defRPr>
            </a:pPr>
            <a:r>
              <a:t>• Modern AI began in the mid-20th century</a:t>
            </a:r>
          </a:p>
          <a:p>
            <a:pPr algn="ctr">
              <a:lnSpc>
                <a:spcPct val="140000"/>
              </a:lnSpc>
              <a:spcAft>
                <a:spcPts val="1600"/>
              </a:spcAft>
              <a:defRPr sz="2000">
                <a:solidFill>
                  <a:srgbClr val="E6E6E6"/>
                </a:solidFill>
                <a:latin typeface="Segoe UI"/>
              </a:defRPr>
            </a:pPr>
            <a:r>
              <a:t>• Key milestones include the Turing Test and the development of expert systems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pplications_of_Artificial_In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>
              <a:lumMod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6400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7200" b="1">
                <a:solidFill>
                  <a:srgbClr val="FFFFFF"/>
                </a:solidFill>
                <a:latin typeface="Segoe UI"/>
              </a:defRPr>
            </a:pPr>
            <a:r>
              <a:t>Applications of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5486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1800"/>
              </a:spcAft>
              <a:defRPr sz="2200">
                <a:solidFill>
                  <a:srgbClr val="F0F0F0"/>
                </a:solidFill>
                <a:latin typeface="Segoe UI"/>
              </a:defRPr>
            </a:pPr>
            <a:r>
              <a:t>• AI is used in various fields such as healthcare, finance, and automotive</a:t>
            </a:r>
          </a:p>
          <a:p>
            <a:pPr algn="l">
              <a:lnSpc>
                <a:spcPct val="140000"/>
              </a:lnSpc>
              <a:spcAft>
                <a:spcPts val="1800"/>
              </a:spcAft>
              <a:defRPr sz="2200">
                <a:solidFill>
                  <a:srgbClr val="F0F0F0"/>
                </a:solidFill>
                <a:latin typeface="Segoe UI"/>
              </a:defRPr>
            </a:pPr>
            <a:r>
              <a:t>• It powers virtual assistants like Siri and Alexa</a:t>
            </a:r>
          </a:p>
          <a:p>
            <a:pPr algn="l">
              <a:lnSpc>
                <a:spcPct val="140000"/>
              </a:lnSpc>
              <a:spcAft>
                <a:spcPts val="1800"/>
              </a:spcAft>
              <a:defRPr sz="2200">
                <a:solidFill>
                  <a:srgbClr val="F0F0F0"/>
                </a:solidFill>
                <a:latin typeface="Segoe UI"/>
              </a:defRPr>
            </a:pPr>
            <a:r>
              <a:t>• AI is also used in predictive analytics and fraud detection</a:t>
            </a:r>
          </a:p>
          <a:p>
            <a:pPr algn="l">
              <a:lnSpc>
                <a:spcPct val="140000"/>
              </a:lnSpc>
              <a:spcAft>
                <a:spcPts val="1800"/>
              </a:spcAft>
              <a:defRPr sz="2200">
                <a:solidFill>
                  <a:srgbClr val="F0F0F0"/>
                </a:solidFill>
                <a:latin typeface="Segoe UI"/>
              </a:defRPr>
            </a:pPr>
            <a:r>
              <a:t>• The future of AI includes advancements in robotics and autonomous systems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5800"/>
            <a:ext cx="9144000" cy="777240"/>
          </a:xfrm>
          <a:prstGeom prst="rect">
            <a:avLst/>
          </a:prstGeom>
          <a:solidFill>
            <a:srgbClr val="065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71600"/>
            <a:ext cx="9144000" cy="777240"/>
          </a:xfrm>
          <a:prstGeom prst="rect">
            <a:avLst/>
          </a:prstGeom>
          <a:solidFill>
            <a:srgbClr val="0761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2057400"/>
            <a:ext cx="9144000" cy="777240"/>
          </a:xfrm>
          <a:prstGeom prst="rect">
            <a:avLst/>
          </a:prstGeom>
          <a:solidFill>
            <a:srgbClr val="086B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743200"/>
            <a:ext cx="9144000" cy="777240"/>
          </a:xfrm>
          <a:prstGeom prst="rect">
            <a:avLst/>
          </a:prstGeom>
          <a:solidFill>
            <a:srgbClr val="097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3429000"/>
            <a:ext cx="9144000" cy="777240"/>
          </a:xfrm>
          <a:prstGeom prst="rect">
            <a:avLst/>
          </a:prstGeom>
          <a:solidFill>
            <a:srgbClr val="0A7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4114800"/>
            <a:ext cx="9144000" cy="777240"/>
          </a:xfrm>
          <a:prstGeom prst="rect">
            <a:avLst/>
          </a:prstGeom>
          <a:solidFill>
            <a:srgbClr val="0B8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4800600"/>
            <a:ext cx="9144000" cy="777240"/>
          </a:xfrm>
          <a:prstGeom prst="rect">
            <a:avLst/>
          </a:prstGeom>
          <a:solidFill>
            <a:srgbClr val="0C91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5486400"/>
            <a:ext cx="9144000" cy="777240"/>
          </a:xfrm>
          <a:prstGeom prst="rect">
            <a:avLst/>
          </a:prstGeom>
          <a:solidFill>
            <a:srgbClr val="0D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172200"/>
            <a:ext cx="9144000" cy="7772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>
              <a:lumMod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90000"/>
              </a:lnSpc>
              <a:defRPr sz="9000" b="1">
                <a:solidFill>
                  <a:srgbClr val="FFFFFF"/>
                </a:solidFill>
                <a:latin typeface="Segoe UI"/>
              </a:defRPr>
            </a:pPr>
            <a:r>
              <a:t>Conclusion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411480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1600"/>
              </a:spcAft>
              <a:defRPr sz="2000">
                <a:solidFill>
                  <a:srgbClr val="F0F0F0"/>
                </a:solidFill>
                <a:latin typeface="Segoe UI"/>
              </a:defRPr>
            </a:pPr>
            <a:r>
              <a:t>• AI is a rapidly evolving field with vast potential</a:t>
            </a:r>
          </a:p>
          <a:p>
            <a:pPr algn="l">
              <a:lnSpc>
                <a:spcPct val="140000"/>
              </a:lnSpc>
              <a:spcAft>
                <a:spcPts val="1600"/>
              </a:spcAft>
              <a:defRPr sz="2000">
                <a:solidFill>
                  <a:srgbClr val="F0F0F0"/>
                </a:solidFill>
                <a:latin typeface="Segoe UI"/>
              </a:defRPr>
            </a:pPr>
            <a:r>
              <a:t>• It is transforming industries and improving efficiency</a:t>
            </a:r>
          </a:p>
          <a:p>
            <a:pPr algn="l">
              <a:lnSpc>
                <a:spcPct val="140000"/>
              </a:lnSpc>
              <a:spcAft>
                <a:spcPts val="1600"/>
              </a:spcAft>
              <a:defRPr sz="2000">
                <a:solidFill>
                  <a:srgbClr val="F0F0F0"/>
                </a:solidFill>
                <a:latin typeface="Segoe UI"/>
              </a:defRPr>
            </a:pPr>
            <a:r>
              <a:t>• Understanding AI is crucial for professionals in the 21st century</a:t>
            </a:r>
          </a:p>
          <a:p>
            <a:pPr algn="l">
              <a:lnSpc>
                <a:spcPct val="140000"/>
              </a:lnSpc>
              <a:spcAft>
                <a:spcPts val="1600"/>
              </a:spcAft>
              <a:defRPr sz="2000">
                <a:solidFill>
                  <a:srgbClr val="F0F0F0"/>
                </a:solidFill>
                <a:latin typeface="Segoe UI"/>
              </a:defRPr>
            </a:pPr>
            <a:r>
              <a:t>• Thank you for your attention. Any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