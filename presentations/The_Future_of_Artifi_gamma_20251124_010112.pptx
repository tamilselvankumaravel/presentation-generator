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he_Future_of_Artificial_Intel.jpg"/>
          <p:cNvPicPr>
            <a:picLocks noChangeAspect="1"/>
          </p:cNvPicPr>
          <p:nvPr/>
        </p:nvPicPr>
        <p:blipFill>
          <a:blip r:embed="rId2"/>
          <a:stretch>
            <a:fillRect/>
          </a:stretch>
        </p:blipFill>
        <p:spPr>
          <a:xfrm>
            <a:off x="4572000" y="457200"/>
            <a:ext cx="4114800" cy="5943600"/>
          </a:xfrm>
          <a:prstGeom prst="rect">
            <a:avLst/>
          </a:prstGeom>
        </p:spPr>
      </p:pic>
      <p:sp>
        <p:nvSpPr>
          <p:cNvPr id="4" name="TextBox 3"/>
          <p:cNvSpPr txBox="1"/>
          <p:nvPr/>
        </p:nvSpPr>
        <p:spPr>
          <a:xfrm>
            <a:off x="731520" y="914400"/>
            <a:ext cx="3657600" cy="2286000"/>
          </a:xfrm>
          <a:prstGeom prst="rect">
            <a:avLst/>
          </a:prstGeom>
          <a:noFill/>
        </p:spPr>
        <p:txBody>
          <a:bodyPr wrap="square" anchor="t">
            <a:spAutoFit/>
          </a:bodyPr>
          <a:lstStyle/>
          <a:p>
            <a:pPr algn="l">
              <a:lnSpc>
                <a:spcPct val="110000"/>
              </a:lnSpc>
              <a:defRPr sz="3500" b="1">
                <a:solidFill>
                  <a:srgbClr val="0A5C8C"/>
                </a:solidFill>
                <a:latin typeface="Segoe UI"/>
              </a:defRPr>
            </a:pPr>
            <a:r>
              <a:t>The Future of Artificial Intelligence</a:t>
            </a:r>
          </a:p>
        </p:txBody>
      </p:sp>
      <p:sp>
        <p:nvSpPr>
          <p:cNvPr id="5" name="TextBox 4"/>
          <p:cNvSpPr txBox="1"/>
          <p:nvPr/>
        </p:nvSpPr>
        <p:spPr>
          <a:xfrm>
            <a:off x="731520" y="4114800"/>
            <a:ext cx="3657600" cy="1828800"/>
          </a:xfrm>
          <a:prstGeom prst="rect">
            <a:avLst/>
          </a:prstGeom>
          <a:noFill/>
        </p:spPr>
        <p:txBody>
          <a:bodyPr wrap="square" anchor="t">
            <a:spAutoFit/>
          </a:bodyPr>
          <a:lstStyle/>
          <a:p>
            <a:pPr algn="l">
              <a:lnSpc>
                <a:spcPct val="140000"/>
              </a:lnSpc>
              <a:defRPr sz="1600">
                <a:solidFill>
                  <a:srgbClr val="0A5C8C"/>
                </a:solidFill>
                <a:latin typeface="Segoe UI"/>
              </a:defRPr>
            </a:pPr>
            <a:r>
              <a:t>This presentation explores the current trends, future predictions, benefits, challenges, and ethical considerations of artificial intelligence. It provides an insightful look into how AI is expected to evolve and impact various aspects of our lives.</a:t>
            </a:r>
          </a:p>
        </p:txBody>
      </p:sp>
      <p:sp>
        <p:nvSpPr>
          <p:cNvPr id="6" name="TextBox 5"/>
          <p:cNvSpPr txBox="1"/>
          <p:nvPr/>
        </p:nvSpPr>
        <p:spPr>
          <a:xfrm>
            <a:off x="731520" y="6217920"/>
            <a:ext cx="4114800" cy="457200"/>
          </a:xfrm>
          <a:prstGeom prst="rect">
            <a:avLst/>
          </a:prstGeom>
          <a:noFill/>
        </p:spPr>
        <p:txBody>
          <a:bodyPr wrap="none">
            <a:spAutoFit/>
          </a:bodyPr>
          <a:lstStyle/>
          <a:p>
            <a:pPr algn="l">
              <a:defRPr sz="1300">
                <a:solidFill>
                  <a:srgbClr val="6B7280"/>
                </a:solidFill>
                <a:latin typeface="Segoe UI"/>
              </a:defRPr>
            </a:pPr>
            <a:r>
              <a:t>by AI Research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914400"/>
          </a:xfrm>
          <a:prstGeom prst="rect">
            <a:avLst/>
          </a:prstGeom>
          <a:noFill/>
        </p:spPr>
        <p:txBody>
          <a:bodyPr wrap="square">
            <a:spAutoFit/>
          </a:bodyPr>
          <a:lstStyle/>
          <a:p>
            <a:pPr algn="l">
              <a:defRPr sz="2800" b="1">
                <a:solidFill>
                  <a:srgbClr val="0A5C8C"/>
                </a:solidFill>
                <a:latin typeface="Segoe UI"/>
              </a:defRPr>
            </a:pPr>
            <a:r>
              <a:t>The Future of Artificial Intelligence</a:t>
            </a:r>
          </a:p>
        </p:txBody>
      </p:sp>
      <p:sp>
        <p:nvSpPr>
          <p:cNvPr id="4" name="Rounded Rectangle 3"/>
          <p:cNvSpPr/>
          <p:nvPr/>
        </p:nvSpPr>
        <p:spPr>
          <a:xfrm>
            <a:off x="1371600" y="228600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468880"/>
            <a:ext cx="5486400" cy="548640"/>
          </a:xfrm>
          <a:prstGeom prst="rect">
            <a:avLst/>
          </a:prstGeom>
          <a:noFill/>
        </p:spPr>
        <p:txBody>
          <a:bodyPr wrap="none">
            <a:spAutoFit/>
          </a:bodyPr>
          <a:lstStyle/>
          <a:p>
            <a:pPr>
              <a:defRPr sz="1600">
                <a:solidFill>
                  <a:srgbClr val="0A5C8C"/>
                </a:solidFill>
                <a:latin typeface="Segoe UI"/>
              </a:defRPr>
            </a:pPr>
            <a:r>
              <a:t>• Content for The Future of Artificial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600" b="1">
                <a:solidFill>
                  <a:srgbClr val="0A5C8C"/>
                </a:solidFill>
                <a:latin typeface="Segoe UI"/>
              </a:defRPr>
            </a:pPr>
            <a:r>
              <a:t>Current Trends in AI</a:t>
            </a:r>
          </a:p>
        </p:txBody>
      </p:sp>
      <p:sp>
        <p:nvSpPr>
          <p:cNvPr id="4" name="Rounded Rectangle 3"/>
          <p:cNvSpPr/>
          <p:nvPr/>
        </p:nvSpPr>
        <p:spPr>
          <a:xfrm>
            <a:off x="731520" y="18288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57400"/>
            <a:ext cx="3200400" cy="731520"/>
          </a:xfrm>
          <a:prstGeom prst="rect">
            <a:avLst/>
          </a:prstGeom>
          <a:noFill/>
        </p:spPr>
        <p:txBody>
          <a:bodyPr wrap="square">
            <a:spAutoFit/>
          </a:bodyPr>
          <a:lstStyle/>
          <a:p>
            <a:pPr>
              <a:defRPr sz="900">
                <a:solidFill>
                  <a:srgbClr val="0A5C8C"/>
                </a:solidFill>
                <a:latin typeface="Segoe UI"/>
              </a:defRPr>
            </a:pPr>
            <a:r>
              <a:t>Rapid advancements in machine learning and deep learning algorithms</a:t>
            </a:r>
          </a:p>
        </p:txBody>
      </p:sp>
      <p:sp>
        <p:nvSpPr>
          <p:cNvPr id="6" name="Rounded Rectangle 5"/>
          <p:cNvSpPr/>
          <p:nvPr/>
        </p:nvSpPr>
        <p:spPr>
          <a:xfrm>
            <a:off x="731520" y="32004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29000"/>
            <a:ext cx="3200400" cy="731520"/>
          </a:xfrm>
          <a:prstGeom prst="rect">
            <a:avLst/>
          </a:prstGeom>
          <a:noFill/>
        </p:spPr>
        <p:txBody>
          <a:bodyPr wrap="square">
            <a:spAutoFit/>
          </a:bodyPr>
          <a:lstStyle/>
          <a:p>
            <a:pPr>
              <a:defRPr sz="900">
                <a:solidFill>
                  <a:srgbClr val="0A5C8C"/>
                </a:solidFill>
                <a:latin typeface="Segoe UI"/>
              </a:defRPr>
            </a:pPr>
            <a:r>
              <a:t>Increased adoption of AI in various industries, including healthcare, finance, and automotive</a:t>
            </a:r>
          </a:p>
        </p:txBody>
      </p:sp>
      <p:sp>
        <p:nvSpPr>
          <p:cNvPr id="8" name="Rounded Rectangle 7"/>
          <p:cNvSpPr/>
          <p:nvPr/>
        </p:nvSpPr>
        <p:spPr>
          <a:xfrm>
            <a:off x="731520" y="45720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00600"/>
            <a:ext cx="3200400" cy="731520"/>
          </a:xfrm>
          <a:prstGeom prst="rect">
            <a:avLst/>
          </a:prstGeom>
          <a:noFill/>
        </p:spPr>
        <p:txBody>
          <a:bodyPr wrap="square">
            <a:spAutoFit/>
          </a:bodyPr>
          <a:lstStyle/>
          <a:p>
            <a:pPr>
              <a:defRPr sz="900">
                <a:solidFill>
                  <a:srgbClr val="0A5C8C"/>
                </a:solidFill>
                <a:latin typeface="Segoe UI"/>
              </a:defRPr>
            </a:pPr>
            <a:r>
              <a:t>Growth of AI-powered virtual assistants and chatbots for customer service</a:t>
            </a:r>
          </a:p>
        </p:txBody>
      </p:sp>
      <p:pic>
        <p:nvPicPr>
          <p:cNvPr id="10" name="Picture 9" descr="future_of_ai_current_trends_te.jpg"/>
          <p:cNvPicPr>
            <a:picLocks noChangeAspect="1"/>
          </p:cNvPicPr>
          <p:nvPr/>
        </p:nvPicPr>
        <p:blipFill>
          <a:blip r:embed="rId2"/>
          <a:stretch>
            <a:fillRect/>
          </a:stretch>
        </p:blipFill>
        <p:spPr>
          <a:xfrm>
            <a:off x="5029200" y="1828800"/>
            <a:ext cx="347472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ctr">
              <a:defRPr sz="3600" b="1">
                <a:solidFill>
                  <a:srgbClr val="0A5C8C"/>
                </a:solidFill>
                <a:latin typeface="Segoe UI"/>
              </a:defRPr>
            </a:pPr>
            <a:r>
              <a:t>Future Predictions for AI</a:t>
            </a:r>
          </a:p>
        </p:txBody>
      </p:sp>
      <p:sp>
        <p:nvSpPr>
          <p:cNvPr id="4" name="Rounded Rectangle 3"/>
          <p:cNvSpPr/>
          <p:nvPr/>
        </p:nvSpPr>
        <p:spPr>
          <a:xfrm>
            <a:off x="73152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548640" cy="548640"/>
          </a:xfrm>
          <a:prstGeom prst="rect">
            <a:avLst/>
          </a:prstGeom>
          <a:noFill/>
        </p:spPr>
        <p:txBody>
          <a:bodyPr wrap="none">
            <a:spAutoFit/>
          </a:bodyPr>
          <a:lstStyle/>
          <a:p>
            <a:pPr algn="l">
              <a:defRPr sz="2400" b="1">
                <a:solidFill>
                  <a:srgbClr val="3B82F6"/>
                </a:solidFill>
                <a:latin typeface="Segoe UI"/>
              </a:defRPr>
            </a:pPr>
            <a:r>
              <a:t>S</a:t>
            </a:r>
          </a:p>
        </p:txBody>
      </p:sp>
      <p:sp>
        <p:nvSpPr>
          <p:cNvPr id="6" name="TextBox 5"/>
          <p:cNvSpPr txBox="1"/>
          <p:nvPr/>
        </p:nvSpPr>
        <p:spPr>
          <a:xfrm>
            <a:off x="1005840" y="2377440"/>
            <a:ext cx="3108960" cy="1280160"/>
          </a:xfrm>
          <a:prstGeom prst="rect">
            <a:avLst/>
          </a:prstGeom>
          <a:noFill/>
        </p:spPr>
        <p:txBody>
          <a:bodyPr wrap="square">
            <a:spAutoFit/>
          </a:bodyPr>
          <a:lstStyle/>
          <a:p>
            <a:pPr>
              <a:lnSpc>
                <a:spcPct val="120000"/>
              </a:lnSpc>
              <a:defRPr sz="900">
                <a:solidFill>
                  <a:srgbClr val="0A5C8C"/>
                </a:solidFill>
                <a:latin typeface="Segoe UI"/>
              </a:defRPr>
            </a:pPr>
            <a:r>
              <a:t>AI will become more autonomous, with self-learning and self-improving capabilities</a:t>
            </a:r>
          </a:p>
        </p:txBody>
      </p:sp>
      <p:sp>
        <p:nvSpPr>
          <p:cNvPr id="7" name="Rounded Rectangle 6"/>
          <p:cNvSpPr/>
          <p:nvPr/>
        </p:nvSpPr>
        <p:spPr>
          <a:xfrm>
            <a:off x="466344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920240"/>
            <a:ext cx="548640" cy="548640"/>
          </a:xfrm>
          <a:prstGeom prst="rect">
            <a:avLst/>
          </a:prstGeom>
          <a:noFill/>
        </p:spPr>
        <p:txBody>
          <a:bodyPr wrap="none">
            <a:spAutoFit/>
          </a:bodyPr>
          <a:lstStyle/>
          <a:p>
            <a:pPr algn="l">
              <a:defRPr sz="2400" b="1">
                <a:solidFill>
                  <a:srgbClr val="3B82F6"/>
                </a:solidFill>
                <a:latin typeface="Segoe UI"/>
              </a:defRPr>
            </a:pPr>
            <a:r>
              <a:t>W</a:t>
            </a:r>
          </a:p>
        </p:txBody>
      </p:sp>
      <p:sp>
        <p:nvSpPr>
          <p:cNvPr id="9" name="TextBox 8"/>
          <p:cNvSpPr txBox="1"/>
          <p:nvPr/>
        </p:nvSpPr>
        <p:spPr>
          <a:xfrm>
            <a:off x="4937759" y="2377440"/>
            <a:ext cx="3108960" cy="1280160"/>
          </a:xfrm>
          <a:prstGeom prst="rect">
            <a:avLst/>
          </a:prstGeom>
          <a:noFill/>
        </p:spPr>
        <p:txBody>
          <a:bodyPr wrap="square">
            <a:spAutoFit/>
          </a:bodyPr>
          <a:lstStyle/>
          <a:p>
            <a:pPr>
              <a:lnSpc>
                <a:spcPct val="120000"/>
              </a:lnSpc>
              <a:defRPr sz="900">
                <a:solidFill>
                  <a:srgbClr val="0A5C8C"/>
                </a:solidFill>
                <a:latin typeface="Segoe UI"/>
              </a:defRPr>
            </a:pPr>
            <a:r>
              <a:t>AI will be integrated into everyday devices, creating a seamless and personalized user experience</a:t>
            </a:r>
          </a:p>
        </p:txBody>
      </p:sp>
      <p:sp>
        <p:nvSpPr>
          <p:cNvPr id="10" name="Rounded Rectangle 9"/>
          <p:cNvSpPr/>
          <p:nvPr/>
        </p:nvSpPr>
        <p:spPr>
          <a:xfrm>
            <a:off x="731520" y="4114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06240"/>
            <a:ext cx="548640" cy="548640"/>
          </a:xfrm>
          <a:prstGeom prst="rect">
            <a:avLst/>
          </a:prstGeom>
          <a:noFill/>
        </p:spPr>
        <p:txBody>
          <a:bodyPr wrap="none">
            <a:spAutoFit/>
          </a:bodyPr>
          <a:lstStyle/>
          <a:p>
            <a:pPr algn="l">
              <a:defRPr sz="2400" b="1">
                <a:solidFill>
                  <a:srgbClr val="3B82F6"/>
                </a:solidFill>
                <a:latin typeface="Segoe UI"/>
              </a:defRPr>
            </a:pPr>
            <a:r>
              <a:t>T</a:t>
            </a:r>
          </a:p>
        </p:txBody>
      </p:sp>
      <p:sp>
        <p:nvSpPr>
          <p:cNvPr id="12" name="TextBox 11"/>
          <p:cNvSpPr txBox="1"/>
          <p:nvPr/>
        </p:nvSpPr>
        <p:spPr>
          <a:xfrm>
            <a:off x="1005840" y="4663440"/>
            <a:ext cx="3108960" cy="1280160"/>
          </a:xfrm>
          <a:prstGeom prst="rect">
            <a:avLst/>
          </a:prstGeom>
          <a:noFill/>
        </p:spPr>
        <p:txBody>
          <a:bodyPr wrap="square">
            <a:spAutoFit/>
          </a:bodyPr>
          <a:lstStyle/>
          <a:p>
            <a:pPr>
              <a:lnSpc>
                <a:spcPct val="120000"/>
              </a:lnSpc>
              <a:defRPr sz="900">
                <a:solidFill>
                  <a:srgbClr val="0A5C8C"/>
                </a:solidFill>
                <a:latin typeface="Segoe UI"/>
              </a:defRPr>
            </a:pPr>
            <a:r>
              <a:t>AI will revolutionize industries such as education, agriculture, and manufacturing</a:t>
            </a:r>
          </a:p>
        </p:txBody>
      </p:sp>
      <p:sp>
        <p:nvSpPr>
          <p:cNvPr id="13" name="Rounded Rectangle 12"/>
          <p:cNvSpPr/>
          <p:nvPr/>
        </p:nvSpPr>
        <p:spPr>
          <a:xfrm>
            <a:off x="4663440" y="4114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4206240"/>
            <a:ext cx="548640" cy="548640"/>
          </a:xfrm>
          <a:prstGeom prst="rect">
            <a:avLst/>
          </a:prstGeom>
          <a:noFill/>
        </p:spPr>
        <p:txBody>
          <a:bodyPr wrap="none">
            <a:spAutoFit/>
          </a:bodyPr>
          <a:lstStyle/>
          <a:p>
            <a:pPr algn="l">
              <a:defRPr sz="2400" b="1">
                <a:solidFill>
                  <a:srgbClr val="3B82F6"/>
                </a:solidFill>
                <a:latin typeface="Segoe UI"/>
              </a:defRPr>
            </a:pPr>
            <a:r>
              <a:t>O</a:t>
            </a:r>
          </a:p>
        </p:txBody>
      </p:sp>
      <p:sp>
        <p:nvSpPr>
          <p:cNvPr id="15" name="TextBox 14"/>
          <p:cNvSpPr txBox="1"/>
          <p:nvPr/>
        </p:nvSpPr>
        <p:spPr>
          <a:xfrm>
            <a:off x="4937759" y="4663440"/>
            <a:ext cx="3108960" cy="1280160"/>
          </a:xfrm>
          <a:prstGeom prst="rect">
            <a:avLst/>
          </a:prstGeom>
          <a:noFill/>
        </p:spPr>
        <p:txBody>
          <a:bodyPr wrap="square">
            <a:spAutoFit/>
          </a:bodyPr>
          <a:lstStyle/>
          <a:p>
            <a:pPr>
              <a:lnSpc>
                <a:spcPct val="120000"/>
              </a:lnSpc>
              <a:defRPr sz="900">
                <a:solidFill>
                  <a:srgbClr val="0A5C8C"/>
                </a:solidFill>
                <a:latin typeface="Segoe UI"/>
              </a:defRPr>
            </a:pPr>
            <a:r>
              <a:t>AI will play a crucial role in addressing global challenges, such as climate change and healthcare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000" b="1">
                <a:solidFill>
                  <a:srgbClr val="0A5C8C"/>
                </a:solidFill>
                <a:latin typeface="Segoe UI"/>
              </a:defRPr>
            </a:pPr>
            <a:r>
              <a:t>Benefits and Challenges of AI</a:t>
            </a:r>
          </a:p>
        </p:txBody>
      </p:sp>
      <p:sp>
        <p:nvSpPr>
          <p:cNvPr id="4" name="Rounded Rectangle 3"/>
          <p:cNvSpPr/>
          <p:nvPr/>
        </p:nvSpPr>
        <p:spPr>
          <a:xfrm>
            <a:off x="731520" y="164592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3474720" cy="1097280"/>
          </a:xfrm>
          <a:prstGeom prst="rect">
            <a:avLst/>
          </a:prstGeom>
          <a:noFill/>
        </p:spPr>
        <p:txBody>
          <a:bodyPr wrap="square">
            <a:spAutoFit/>
          </a:bodyPr>
          <a:lstStyle/>
          <a:p>
            <a:pPr>
              <a:lnSpc>
                <a:spcPct val="130000"/>
              </a:lnSpc>
              <a:defRPr sz="1000">
                <a:solidFill>
                  <a:srgbClr val="0A5C8C"/>
                </a:solidFill>
                <a:latin typeface="Segoe UI"/>
              </a:defRPr>
            </a:pPr>
            <a:r>
              <a:t>Benefits: Increased efficiency and productivity, improved decision making, and enhanced personalization</a:t>
            </a:r>
          </a:p>
        </p:txBody>
      </p:sp>
      <p:sp>
        <p:nvSpPr>
          <p:cNvPr id="6" name="Rounded Rectangle 5"/>
          <p:cNvSpPr/>
          <p:nvPr/>
        </p:nvSpPr>
        <p:spPr>
          <a:xfrm>
            <a:off x="731520" y="365760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931920"/>
            <a:ext cx="3474720" cy="1097280"/>
          </a:xfrm>
          <a:prstGeom prst="rect">
            <a:avLst/>
          </a:prstGeom>
          <a:noFill/>
        </p:spPr>
        <p:txBody>
          <a:bodyPr wrap="square">
            <a:spAutoFit/>
          </a:bodyPr>
          <a:lstStyle/>
          <a:p>
            <a:pPr>
              <a:lnSpc>
                <a:spcPct val="130000"/>
              </a:lnSpc>
              <a:defRPr sz="1000">
                <a:solidFill>
                  <a:srgbClr val="0A5C8C"/>
                </a:solidFill>
                <a:latin typeface="Segoe UI"/>
              </a:defRPr>
            </a:pPr>
            <a:r>
              <a:t>Challenges: Job displacement, privacy concerns, and the potential for AI to be used maliciously</a:t>
            </a:r>
          </a:p>
        </p:txBody>
      </p:sp>
      <p:pic>
        <p:nvPicPr>
          <p:cNvPr id="8" name="Picture 7" descr="future_of_ai_benefits_advantag.jpg"/>
          <p:cNvPicPr>
            <a:picLocks noChangeAspect="1"/>
          </p:cNvPicPr>
          <p:nvPr/>
        </p:nvPicPr>
        <p:blipFill>
          <a:blip r:embed="rId2"/>
          <a:stretch>
            <a:fillRect/>
          </a:stretch>
        </p:blipFill>
        <p:spPr>
          <a:xfrm>
            <a:off x="5303520" y="1371600"/>
            <a:ext cx="3200400" cy="2011680"/>
          </a:xfrm>
          <a:prstGeom prst="rect">
            <a:avLst/>
          </a:prstGeom>
        </p:spPr>
      </p:pic>
      <p:pic>
        <p:nvPicPr>
          <p:cNvPr id="9" name="Picture 8" descr="future_of_ai_benefits_advantag.jpg"/>
          <p:cNvPicPr>
            <a:picLocks noChangeAspect="1"/>
          </p:cNvPicPr>
          <p:nvPr/>
        </p:nvPicPr>
        <p:blipFill>
          <a:blip r:embed="rId2"/>
          <a:stretch>
            <a:fillRect/>
          </a:stretch>
        </p:blipFill>
        <p:spPr>
          <a:xfrm>
            <a:off x="5303520" y="3657600"/>
            <a:ext cx="3200400" cy="2011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914400"/>
          </a:xfrm>
          <a:prstGeom prst="rect">
            <a:avLst/>
          </a:prstGeom>
          <a:noFill/>
        </p:spPr>
        <p:txBody>
          <a:bodyPr wrap="square">
            <a:spAutoFit/>
          </a:bodyPr>
          <a:lstStyle/>
          <a:p>
            <a:pPr algn="l">
              <a:defRPr sz="2800" b="1">
                <a:solidFill>
                  <a:srgbClr val="0A5C8C"/>
                </a:solidFill>
                <a:latin typeface="Segoe UI"/>
              </a:defRPr>
            </a:pPr>
            <a:r>
              <a:t>Conclusion: Embracing the Future of AI</a:t>
            </a:r>
          </a:p>
        </p:txBody>
      </p:sp>
      <p:sp>
        <p:nvSpPr>
          <p:cNvPr id="4" name="Rounded Rectangle 3"/>
          <p:cNvSpPr/>
          <p:nvPr/>
        </p:nvSpPr>
        <p:spPr>
          <a:xfrm>
            <a:off x="1371600" y="228600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468880"/>
            <a:ext cx="5486400" cy="548640"/>
          </a:xfrm>
          <a:prstGeom prst="rect">
            <a:avLst/>
          </a:prstGeom>
          <a:noFill/>
        </p:spPr>
        <p:txBody>
          <a:bodyPr wrap="none">
            <a:spAutoFit/>
          </a:bodyPr>
          <a:lstStyle/>
          <a:p>
            <a:pPr>
              <a:defRPr sz="1200">
                <a:solidFill>
                  <a:srgbClr val="0A5C8C"/>
                </a:solidFill>
                <a:latin typeface="Segoe UI"/>
              </a:defRPr>
            </a:pPr>
            <a:r>
              <a:t>• AI is poised to transform our world in profound ways</a:t>
            </a:r>
          </a:p>
        </p:txBody>
      </p:sp>
      <p:sp>
        <p:nvSpPr>
          <p:cNvPr id="6" name="Rounded Rectangle 5"/>
          <p:cNvSpPr/>
          <p:nvPr/>
        </p:nvSpPr>
        <p:spPr>
          <a:xfrm>
            <a:off x="1371600" y="338328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3566160"/>
            <a:ext cx="5486400" cy="548640"/>
          </a:xfrm>
          <a:prstGeom prst="rect">
            <a:avLst/>
          </a:prstGeom>
          <a:noFill/>
        </p:spPr>
        <p:txBody>
          <a:bodyPr wrap="none">
            <a:spAutoFit/>
          </a:bodyPr>
          <a:lstStyle/>
          <a:p>
            <a:pPr>
              <a:defRPr sz="1200">
                <a:solidFill>
                  <a:srgbClr val="0A5C8C"/>
                </a:solidFill>
                <a:latin typeface="Segoe UI"/>
              </a:defRPr>
            </a:pPr>
            <a:r>
              <a:t>• We must embrace the opportunities and address the challenges and ethical considerations</a:t>
            </a:r>
          </a:p>
        </p:txBody>
      </p:sp>
      <p:sp>
        <p:nvSpPr>
          <p:cNvPr id="8" name="Rounded Rectangle 7"/>
          <p:cNvSpPr/>
          <p:nvPr/>
        </p:nvSpPr>
        <p:spPr>
          <a:xfrm>
            <a:off x="1371600" y="448056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4663440"/>
            <a:ext cx="5486400" cy="548640"/>
          </a:xfrm>
          <a:prstGeom prst="rect">
            <a:avLst/>
          </a:prstGeom>
          <a:noFill/>
        </p:spPr>
        <p:txBody>
          <a:bodyPr wrap="none">
            <a:spAutoFit/>
          </a:bodyPr>
          <a:lstStyle/>
          <a:p>
            <a:pPr>
              <a:defRPr sz="1200">
                <a:solidFill>
                  <a:srgbClr val="0A5C8C"/>
                </a:solidFill>
                <a:latin typeface="Segoe UI"/>
              </a:defRPr>
            </a:pPr>
            <a:r>
              <a:t>• Collaboration between policymakers, industry leaders, and the public is essential</a:t>
            </a:r>
          </a:p>
        </p:txBody>
      </p:sp>
      <p:sp>
        <p:nvSpPr>
          <p:cNvPr id="10" name="Rounded Rectangle 9"/>
          <p:cNvSpPr/>
          <p:nvPr/>
        </p:nvSpPr>
        <p:spPr>
          <a:xfrm>
            <a:off x="1371600" y="557784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5760720"/>
            <a:ext cx="5486400" cy="548640"/>
          </a:xfrm>
          <a:prstGeom prst="rect">
            <a:avLst/>
          </a:prstGeom>
          <a:noFill/>
        </p:spPr>
        <p:txBody>
          <a:bodyPr wrap="none">
            <a:spAutoFit/>
          </a:bodyPr>
          <a:lstStyle/>
          <a:p>
            <a:pPr>
              <a:defRPr sz="1200">
                <a:solidFill>
                  <a:srgbClr val="0A5C8C"/>
                </a:solidFill>
                <a:latin typeface="Segoe UI"/>
              </a:defRPr>
            </a:pPr>
            <a:r>
              <a:t>• The future of AI is bright, and it is up to us to shape it responsibly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